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 id="2147483672" r:id="rId2"/>
    <p:sldMasterId id="2147483660" r:id="rId3"/>
  </p:sldMasterIdLst>
  <p:notesMasterIdLst>
    <p:notesMasterId r:id="rId15"/>
  </p:notesMasterIdLst>
  <p:handoutMasterIdLst>
    <p:handoutMasterId r:id="rId16"/>
  </p:handoutMasterIdLst>
  <p:sldIdLst>
    <p:sldId id="257" r:id="rId4"/>
    <p:sldId id="259" r:id="rId5"/>
    <p:sldId id="262" r:id="rId6"/>
    <p:sldId id="277" r:id="rId7"/>
    <p:sldId id="286" r:id="rId8"/>
    <p:sldId id="278" r:id="rId9"/>
    <p:sldId id="288" r:id="rId10"/>
    <p:sldId id="289" r:id="rId11"/>
    <p:sldId id="274" r:id="rId12"/>
    <p:sldId id="290" r:id="rId13"/>
    <p:sldId id="291"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909" autoAdjust="0"/>
    <p:restoredTop sz="92261" autoAdjust="0"/>
  </p:normalViewPr>
  <p:slideViewPr>
    <p:cSldViewPr snapToGrid="0">
      <p:cViewPr varScale="1">
        <p:scale>
          <a:sx n="105" d="100"/>
          <a:sy n="105" d="100"/>
        </p:scale>
        <p:origin x="712" y="184"/>
      </p:cViewPr>
      <p:guideLst>
        <p:guide orient="horz" pos="2160"/>
        <p:guide pos="3840"/>
      </p:guideLst>
    </p:cSldViewPr>
  </p:slideViewPr>
  <p:notesTextViewPr>
    <p:cViewPr>
      <p:scale>
        <a:sx n="1" d="1"/>
        <a:sy n="1" d="1"/>
      </p:scale>
      <p:origin x="0" y="0"/>
    </p:cViewPr>
  </p:notesTextViewPr>
  <p:notesViewPr>
    <p:cSldViewPr snapToGrid="0">
      <p:cViewPr varScale="1">
        <p:scale>
          <a:sx n="57" d="100"/>
          <a:sy n="57" d="100"/>
        </p:scale>
        <p:origin x="2832" y="7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viewProps" Target="viewProps.xml"/><Relationship Id="rId3" Type="http://schemas.openxmlformats.org/officeDocument/2006/relationships/slideMaster" Target="slideMasters/slideMaster3.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handoutMaster" Target="handoutMasters/handout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5" Type="http://schemas.openxmlformats.org/officeDocument/2006/relationships/slide" Target="slides/slide2.xml"/><Relationship Id="rId15" Type="http://schemas.openxmlformats.org/officeDocument/2006/relationships/notesMaster" Target="notesMasters/notesMaster1.xml"/><Relationship Id="rId10" Type="http://schemas.openxmlformats.org/officeDocument/2006/relationships/slide" Target="slides/slide7.xml"/><Relationship Id="rId19" Type="http://schemas.openxmlformats.org/officeDocument/2006/relationships/theme" Target="theme/theme1.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BAE2A96-1327-43AD-BED9-D6677BA52BD1}" type="datetimeFigureOut">
              <a:rPr lang="en-IN" smtClean="0"/>
              <a:pPr/>
              <a:t>10/10/23</a:t>
            </a:fld>
            <a:endParaRPr lang="en-IN"/>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106C447-2948-4967-8030-0AA7BAB1D57F}" type="slidenum">
              <a:rPr lang="en-IN" smtClean="0"/>
              <a:pPr/>
              <a:t>‹#›</a:t>
            </a:fld>
            <a:endParaRPr lang="en-IN"/>
          </a:p>
        </p:txBody>
      </p:sp>
    </p:spTree>
    <p:extLst>
      <p:ext uri="{BB962C8B-B14F-4D97-AF65-F5344CB8AC3E}">
        <p14:creationId xmlns:p14="http://schemas.microsoft.com/office/powerpoint/2010/main" val="105458925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D2F4666-884F-4906-A620-C0BD2319E69E}" type="datetimeFigureOut">
              <a:rPr lang="en-US" smtClean="0"/>
              <a:pPr/>
              <a:t>10/10/23</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3165CDC-F920-460D-A836-7FD7F940BD27}" type="slidenum">
              <a:rPr lang="en-US" smtClean="0"/>
              <a:pPr/>
              <a:t>‹#›</a:t>
            </a:fld>
            <a:endParaRPr lang="en-US"/>
          </a:p>
        </p:txBody>
      </p:sp>
    </p:spTree>
    <p:extLst>
      <p:ext uri="{BB962C8B-B14F-4D97-AF65-F5344CB8AC3E}">
        <p14:creationId xmlns:p14="http://schemas.microsoft.com/office/powerpoint/2010/main" val="24003724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33"/>
            <a:ext cx="10363200" cy="1470025"/>
          </a:xfrm>
          <a:prstGeom prst="rect">
            <a:avLst/>
          </a:prstGeo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a:xfrm>
            <a:off x="609600" y="6356358"/>
            <a:ext cx="2844800" cy="365125"/>
          </a:xfrm>
          <a:prstGeom prst="rect">
            <a:avLst/>
          </a:prstGeom>
        </p:spPr>
        <p:txBody>
          <a:bodyPr/>
          <a:lstStyle/>
          <a:p>
            <a:fld id="{1D8BD707-D9CF-40AE-B4C6-C98DA3205C09}" type="datetimeFigureOut">
              <a:rPr lang="en-US" smtClean="0"/>
              <a:pPr/>
              <a:t>10/10/23</a:t>
            </a:fld>
            <a:endParaRPr lang="en-US"/>
          </a:p>
        </p:txBody>
      </p:sp>
      <p:sp>
        <p:nvSpPr>
          <p:cNvPr id="5" name="Footer Placeholder 4"/>
          <p:cNvSpPr>
            <a:spLocks noGrp="1"/>
          </p:cNvSpPr>
          <p:nvPr>
            <p:ph type="ftr" sz="quarter" idx="11"/>
          </p:nvPr>
        </p:nvSpPr>
        <p:spPr>
          <a:xfrm>
            <a:off x="4165600" y="6356358"/>
            <a:ext cx="3860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737600" y="6356358"/>
            <a:ext cx="2844800" cy="365125"/>
          </a:xfrm>
          <a:prstGeom prst="rect">
            <a:avLst/>
          </a:prstGeom>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7145711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p:nvPr userDrawn="1"/>
        </p:nvSpPr>
        <p:spPr>
          <a:xfrm>
            <a:off x="0" y="152400"/>
            <a:ext cx="12192000" cy="685800"/>
          </a:xfrm>
          <a:prstGeom prst="rect">
            <a:avLst/>
          </a:prstGeom>
          <a:solidFill>
            <a:schemeClr val="accent3">
              <a:lumMod val="60000"/>
              <a:lumOff val="40000"/>
            </a:schemeClr>
          </a:solidFill>
          <a:ln>
            <a:solidFill>
              <a:schemeClr val="accent3">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 name="Title 1"/>
          <p:cNvSpPr>
            <a:spLocks noGrp="1"/>
          </p:cNvSpPr>
          <p:nvPr>
            <p:ph type="title"/>
          </p:nvPr>
        </p:nvSpPr>
        <p:spPr>
          <a:xfrm>
            <a:off x="187569" y="152400"/>
            <a:ext cx="11816862" cy="639762"/>
          </a:xfrm>
          <a:prstGeom prst="rect">
            <a:avLst/>
          </a:prstGeom>
        </p:spPr>
        <p:txBody>
          <a:bodyPr anchor="ctr"/>
          <a:lstStyle>
            <a:lvl1pPr>
              <a:defRPr sz="3600" b="1">
                <a:solidFill>
                  <a:schemeClr val="tx1"/>
                </a:solidFill>
              </a:defRPr>
            </a:lvl1pPr>
          </a:lstStyle>
          <a:p>
            <a:r>
              <a:rPr lang="en-US" dirty="0"/>
              <a:t>Click to edit Master title style</a:t>
            </a:r>
          </a:p>
        </p:txBody>
      </p:sp>
      <p:sp>
        <p:nvSpPr>
          <p:cNvPr id="3" name="Content Placeholder 2"/>
          <p:cNvSpPr>
            <a:spLocks noGrp="1"/>
          </p:cNvSpPr>
          <p:nvPr>
            <p:ph idx="1"/>
          </p:nvPr>
        </p:nvSpPr>
        <p:spPr>
          <a:xfrm>
            <a:off x="187569" y="990601"/>
            <a:ext cx="11816862" cy="5135564"/>
          </a:xfrm>
          <a:prstGeom prst="rect">
            <a:avLst/>
          </a:prstGeom>
        </p:spPr>
        <p:txBody>
          <a:bodyPr/>
          <a:lstStyle>
            <a:lvl1pPr algn="just">
              <a:defRPr/>
            </a:lvl1pPr>
            <a:lvl2pPr algn="just">
              <a:defRPr/>
            </a:lvl2pPr>
            <a:lvl3pPr algn="just">
              <a:defRPr/>
            </a:lvl3pPr>
            <a:lvl4pPr algn="just">
              <a:defRPr/>
            </a:lvl4pPr>
            <a:lvl5pPr algn="jus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3608495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8"/>
            <a:ext cx="10363200" cy="1362075"/>
          </a:xfrm>
          <a:prstGeom prst="rect">
            <a:avLst/>
          </a:prstGeo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a:prstGeom prst="rect">
            <a:avLst/>
          </a:prstGeo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609600" y="6356358"/>
            <a:ext cx="2844800" cy="365125"/>
          </a:xfrm>
          <a:prstGeom prst="rect">
            <a:avLst/>
          </a:prstGeom>
        </p:spPr>
        <p:txBody>
          <a:bodyPr/>
          <a:lstStyle/>
          <a:p>
            <a:fld id="{1D8BD707-D9CF-40AE-B4C6-C98DA3205C09}" type="datetimeFigureOut">
              <a:rPr lang="en-US" smtClean="0"/>
              <a:pPr/>
              <a:t>10/10/23</a:t>
            </a:fld>
            <a:endParaRPr lang="en-US"/>
          </a:p>
        </p:txBody>
      </p:sp>
      <p:sp>
        <p:nvSpPr>
          <p:cNvPr id="5" name="Footer Placeholder 4"/>
          <p:cNvSpPr>
            <a:spLocks noGrp="1"/>
          </p:cNvSpPr>
          <p:nvPr>
            <p:ph type="ftr" sz="quarter" idx="11"/>
          </p:nvPr>
        </p:nvSpPr>
        <p:spPr>
          <a:xfrm>
            <a:off x="4165600" y="6356358"/>
            <a:ext cx="3860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737600" y="6356358"/>
            <a:ext cx="2844800" cy="365125"/>
          </a:xfrm>
          <a:prstGeom prst="rect">
            <a:avLst/>
          </a:prstGeom>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3055532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8" name="Rectangle 7"/>
          <p:cNvSpPr/>
          <p:nvPr userDrawn="1"/>
        </p:nvSpPr>
        <p:spPr>
          <a:xfrm>
            <a:off x="0" y="152400"/>
            <a:ext cx="12192000" cy="685800"/>
          </a:xfrm>
          <a:prstGeom prst="rect">
            <a:avLst/>
          </a:prstGeom>
          <a:solidFill>
            <a:schemeClr val="accent3">
              <a:lumMod val="60000"/>
              <a:lumOff val="40000"/>
            </a:schemeClr>
          </a:solidFill>
          <a:ln>
            <a:solidFill>
              <a:schemeClr val="accent3">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3" name="Content Placeholder 2"/>
          <p:cNvSpPr>
            <a:spLocks noGrp="1"/>
          </p:cNvSpPr>
          <p:nvPr>
            <p:ph sz="half" idx="1"/>
          </p:nvPr>
        </p:nvSpPr>
        <p:spPr>
          <a:xfrm>
            <a:off x="187569" y="914400"/>
            <a:ext cx="5806831" cy="5211769"/>
          </a:xfrm>
          <a:prstGeom prst="rect">
            <a:avLst/>
          </a:prstGeom>
        </p:spPr>
        <p:txBody>
          <a:bodyPr/>
          <a:lstStyle>
            <a:lvl1pPr>
              <a:defRPr sz="3200"/>
            </a:lvl1pPr>
            <a:lvl2pPr>
              <a:defRPr sz="2800"/>
            </a:lvl2pPr>
            <a:lvl3pPr>
              <a:defRPr sz="2400"/>
            </a:lvl3pPr>
            <a:lvl4pPr>
              <a:defRPr sz="2000"/>
            </a:lvl4pPr>
            <a:lvl5pPr>
              <a:defRPr sz="20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97600" y="914400"/>
            <a:ext cx="5806831" cy="5211769"/>
          </a:xfrm>
          <a:prstGeom prst="rect">
            <a:avLst/>
          </a:prstGeom>
        </p:spPr>
        <p:txBody>
          <a:bodyPr/>
          <a:lstStyle>
            <a:lvl1pPr>
              <a:defRPr sz="3200"/>
            </a:lvl1pPr>
            <a:lvl2pPr>
              <a:defRPr sz="2800"/>
            </a:lvl2pPr>
            <a:lvl3pPr>
              <a:defRPr sz="2400"/>
            </a:lvl3pPr>
            <a:lvl4pPr>
              <a:defRPr sz="2000"/>
            </a:lvl4pPr>
            <a:lvl5pPr>
              <a:defRPr sz="20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Title 1"/>
          <p:cNvSpPr>
            <a:spLocks noGrp="1"/>
          </p:cNvSpPr>
          <p:nvPr>
            <p:ph type="title"/>
          </p:nvPr>
        </p:nvSpPr>
        <p:spPr>
          <a:xfrm>
            <a:off x="187569" y="152400"/>
            <a:ext cx="11816862" cy="639762"/>
          </a:xfrm>
          <a:prstGeom prst="rect">
            <a:avLst/>
          </a:prstGeom>
        </p:spPr>
        <p:txBody>
          <a:bodyPr anchor="ctr"/>
          <a:lstStyle>
            <a:lvl1pPr>
              <a:defRPr sz="3600" b="1">
                <a:solidFill>
                  <a:schemeClr val="tx1"/>
                </a:solidFill>
              </a:defRPr>
            </a:lvl1pPr>
          </a:lstStyle>
          <a:p>
            <a:r>
              <a:rPr lang="en-US" dirty="0"/>
              <a:t>Click to edit Master title style</a:t>
            </a:r>
          </a:p>
        </p:txBody>
      </p:sp>
    </p:spTree>
    <p:extLst>
      <p:ext uri="{BB962C8B-B14F-4D97-AF65-F5344CB8AC3E}">
        <p14:creationId xmlns:p14="http://schemas.microsoft.com/office/powerpoint/2010/main" val="30665978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a:prstGeom prst="rect">
            <a:avLst/>
          </a:prstGeo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71" y="1535113"/>
            <a:ext cx="5389034"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71" y="2174875"/>
            <a:ext cx="5389034"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609600" y="6356358"/>
            <a:ext cx="2844800" cy="365125"/>
          </a:xfrm>
          <a:prstGeom prst="rect">
            <a:avLst/>
          </a:prstGeom>
        </p:spPr>
        <p:txBody>
          <a:bodyPr/>
          <a:lstStyle/>
          <a:p>
            <a:fld id="{1D8BD707-D9CF-40AE-B4C6-C98DA3205C09}" type="datetimeFigureOut">
              <a:rPr lang="en-US" smtClean="0"/>
              <a:pPr/>
              <a:t>10/10/23</a:t>
            </a:fld>
            <a:endParaRPr lang="en-US"/>
          </a:p>
        </p:txBody>
      </p:sp>
      <p:sp>
        <p:nvSpPr>
          <p:cNvPr id="8" name="Footer Placeholder 7"/>
          <p:cNvSpPr>
            <a:spLocks noGrp="1"/>
          </p:cNvSpPr>
          <p:nvPr>
            <p:ph type="ftr" sz="quarter" idx="11"/>
          </p:nvPr>
        </p:nvSpPr>
        <p:spPr>
          <a:xfrm>
            <a:off x="4165600" y="6356358"/>
            <a:ext cx="3860800" cy="365125"/>
          </a:xfrm>
          <a:prstGeom prst="rect">
            <a:avLst/>
          </a:prstGeom>
        </p:spPr>
        <p:txBody>
          <a:bodyPr/>
          <a:lstStyle/>
          <a:p>
            <a:endParaRPr lang="en-US"/>
          </a:p>
        </p:txBody>
      </p:sp>
      <p:sp>
        <p:nvSpPr>
          <p:cNvPr id="9" name="Slide Number Placeholder 8"/>
          <p:cNvSpPr>
            <a:spLocks noGrp="1"/>
          </p:cNvSpPr>
          <p:nvPr>
            <p:ph type="sldNum" sz="quarter" idx="12"/>
          </p:nvPr>
        </p:nvSpPr>
        <p:spPr>
          <a:xfrm>
            <a:off x="8737600" y="6356358"/>
            <a:ext cx="2844800" cy="365125"/>
          </a:xfrm>
          <a:prstGeom prst="rect">
            <a:avLst/>
          </a:prstGeom>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1525918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a:prstGeom prst="rect">
            <a:avLst/>
          </a:prstGeom>
        </p:spPr>
        <p:txBody>
          <a:bodyPr/>
          <a:lstStyle/>
          <a:p>
            <a:r>
              <a:rPr lang="en-US"/>
              <a:t>Click to edit Master title style</a:t>
            </a:r>
          </a:p>
        </p:txBody>
      </p:sp>
      <p:sp>
        <p:nvSpPr>
          <p:cNvPr id="3" name="Date Placeholder 2"/>
          <p:cNvSpPr>
            <a:spLocks noGrp="1"/>
          </p:cNvSpPr>
          <p:nvPr>
            <p:ph type="dt" sz="half" idx="10"/>
          </p:nvPr>
        </p:nvSpPr>
        <p:spPr>
          <a:xfrm>
            <a:off x="609600" y="6356358"/>
            <a:ext cx="2844800" cy="365125"/>
          </a:xfrm>
          <a:prstGeom prst="rect">
            <a:avLst/>
          </a:prstGeom>
        </p:spPr>
        <p:txBody>
          <a:bodyPr/>
          <a:lstStyle/>
          <a:p>
            <a:fld id="{1D8BD707-D9CF-40AE-B4C6-C98DA3205C09}" type="datetimeFigureOut">
              <a:rPr lang="en-US" smtClean="0"/>
              <a:pPr/>
              <a:t>10/10/23</a:t>
            </a:fld>
            <a:endParaRPr lang="en-US"/>
          </a:p>
        </p:txBody>
      </p:sp>
      <p:sp>
        <p:nvSpPr>
          <p:cNvPr id="4" name="Footer Placeholder 3"/>
          <p:cNvSpPr>
            <a:spLocks noGrp="1"/>
          </p:cNvSpPr>
          <p:nvPr>
            <p:ph type="ftr" sz="quarter" idx="11"/>
          </p:nvPr>
        </p:nvSpPr>
        <p:spPr>
          <a:xfrm>
            <a:off x="4165600" y="6356358"/>
            <a:ext cx="3860800" cy="365125"/>
          </a:xfrm>
          <a:prstGeom prst="rect">
            <a:avLst/>
          </a:prstGeom>
        </p:spPr>
        <p:txBody>
          <a:bodyPr/>
          <a:lstStyle/>
          <a:p>
            <a:endParaRPr lang="en-US"/>
          </a:p>
        </p:txBody>
      </p:sp>
      <p:sp>
        <p:nvSpPr>
          <p:cNvPr id="5" name="Slide Number Placeholder 4"/>
          <p:cNvSpPr>
            <a:spLocks noGrp="1"/>
          </p:cNvSpPr>
          <p:nvPr>
            <p:ph type="sldNum" sz="quarter" idx="12"/>
          </p:nvPr>
        </p:nvSpPr>
        <p:spPr>
          <a:xfrm>
            <a:off x="8737600" y="6356358"/>
            <a:ext cx="2844800" cy="365125"/>
          </a:xfrm>
          <a:prstGeom prst="rect">
            <a:avLst/>
          </a:prstGeom>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403492199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5" name="Rectangle 4"/>
          <p:cNvSpPr/>
          <p:nvPr userDrawn="1"/>
        </p:nvSpPr>
        <p:spPr>
          <a:xfrm>
            <a:off x="0" y="0"/>
            <a:ext cx="12192000" cy="152400"/>
          </a:xfrm>
          <a:prstGeom prst="rect">
            <a:avLst/>
          </a:prstGeom>
          <a:solidFill>
            <a:srgbClr val="0099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6" name="Rectangle 5"/>
          <p:cNvSpPr/>
          <p:nvPr userDrawn="1"/>
        </p:nvSpPr>
        <p:spPr>
          <a:xfrm>
            <a:off x="0" y="6705600"/>
            <a:ext cx="12192000" cy="152400"/>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8" name="TextBox 7"/>
          <p:cNvSpPr txBox="1"/>
          <p:nvPr userDrawn="1"/>
        </p:nvSpPr>
        <p:spPr>
          <a:xfrm>
            <a:off x="-27589" y="6655360"/>
            <a:ext cx="2747868" cy="253916"/>
          </a:xfrm>
          <a:prstGeom prst="rect">
            <a:avLst/>
          </a:prstGeom>
          <a:noFill/>
        </p:spPr>
        <p:txBody>
          <a:bodyPr wrap="none" rtlCol="0">
            <a:spAutoFit/>
          </a:bodyPr>
          <a:lstStyle/>
          <a:p>
            <a:r>
              <a:rPr lang="en-US" sz="1050" dirty="0">
                <a:solidFill>
                  <a:schemeClr val="bg1"/>
                </a:solidFill>
              </a:rPr>
              <a:t>©M. S. Ramaiah University of Applied Sciences</a:t>
            </a:r>
          </a:p>
        </p:txBody>
      </p:sp>
      <p:sp>
        <p:nvSpPr>
          <p:cNvPr id="10" name="Rectangle 9"/>
          <p:cNvSpPr/>
          <p:nvPr userDrawn="1"/>
        </p:nvSpPr>
        <p:spPr>
          <a:xfrm>
            <a:off x="11723077" y="6324600"/>
            <a:ext cx="468923" cy="533400"/>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9" name="Rectangle 8"/>
          <p:cNvSpPr/>
          <p:nvPr userDrawn="1"/>
        </p:nvSpPr>
        <p:spPr>
          <a:xfrm>
            <a:off x="11699385" y="6324600"/>
            <a:ext cx="457176" cy="369332"/>
          </a:xfrm>
          <a:prstGeom prst="rect">
            <a:avLst/>
          </a:prstGeom>
        </p:spPr>
        <p:txBody>
          <a:bodyPr wrap="none">
            <a:spAutoFit/>
          </a:bodyPr>
          <a:lstStyle/>
          <a:p>
            <a:fld id="{B6F15528-21DE-4FAA-801E-634DDDAF4B2B}" type="slidenum">
              <a:rPr lang="en-US" sz="1800" smtClean="0">
                <a:solidFill>
                  <a:schemeClr val="bg1"/>
                </a:solidFill>
              </a:rPr>
              <a:pPr/>
              <a:t>‹#›</a:t>
            </a:fld>
            <a:endParaRPr lang="en-US" sz="1800" dirty="0">
              <a:solidFill>
                <a:schemeClr val="bg1"/>
              </a:solidFill>
            </a:endParaRPr>
          </a:p>
        </p:txBody>
      </p:sp>
    </p:spTree>
    <p:extLst>
      <p:ext uri="{BB962C8B-B14F-4D97-AF65-F5344CB8AC3E}">
        <p14:creationId xmlns:p14="http://schemas.microsoft.com/office/powerpoint/2010/main" val="2713126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3050"/>
            <a:ext cx="4011084" cy="1162050"/>
          </a:xfrm>
          <a:prstGeom prst="rect">
            <a:avLst/>
          </a:prstGeo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6" y="273058"/>
            <a:ext cx="6815666"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0" y="1435103"/>
            <a:ext cx="4011084"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609600" y="6356358"/>
            <a:ext cx="2844800" cy="365125"/>
          </a:xfrm>
          <a:prstGeom prst="rect">
            <a:avLst/>
          </a:prstGeom>
        </p:spPr>
        <p:txBody>
          <a:bodyPr/>
          <a:lstStyle/>
          <a:p>
            <a:fld id="{1D8BD707-D9CF-40AE-B4C6-C98DA3205C09}" type="datetimeFigureOut">
              <a:rPr lang="en-US" smtClean="0"/>
              <a:pPr/>
              <a:t>10/10/23</a:t>
            </a:fld>
            <a:endParaRPr lang="en-US"/>
          </a:p>
        </p:txBody>
      </p:sp>
      <p:sp>
        <p:nvSpPr>
          <p:cNvPr id="6" name="Footer Placeholder 5"/>
          <p:cNvSpPr>
            <a:spLocks noGrp="1"/>
          </p:cNvSpPr>
          <p:nvPr>
            <p:ph type="ftr" sz="quarter" idx="11"/>
          </p:nvPr>
        </p:nvSpPr>
        <p:spPr>
          <a:xfrm>
            <a:off x="4165600" y="6356358"/>
            <a:ext cx="3860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737600" y="6356358"/>
            <a:ext cx="2844800" cy="365125"/>
          </a:xfrm>
          <a:prstGeom prst="rect">
            <a:avLst/>
          </a:prstGeom>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2927065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a:prstGeom prst="rect">
            <a:avLst/>
          </a:prstGeo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609600" y="6356358"/>
            <a:ext cx="2844800" cy="365125"/>
          </a:xfrm>
          <a:prstGeom prst="rect">
            <a:avLst/>
          </a:prstGeom>
        </p:spPr>
        <p:txBody>
          <a:bodyPr/>
          <a:lstStyle/>
          <a:p>
            <a:fld id="{1D8BD707-D9CF-40AE-B4C6-C98DA3205C09}" type="datetimeFigureOut">
              <a:rPr lang="en-US" smtClean="0"/>
              <a:pPr/>
              <a:t>10/10/23</a:t>
            </a:fld>
            <a:endParaRPr lang="en-US"/>
          </a:p>
        </p:txBody>
      </p:sp>
      <p:sp>
        <p:nvSpPr>
          <p:cNvPr id="6" name="Footer Placeholder 5"/>
          <p:cNvSpPr>
            <a:spLocks noGrp="1"/>
          </p:cNvSpPr>
          <p:nvPr>
            <p:ph type="ftr" sz="quarter" idx="11"/>
          </p:nvPr>
        </p:nvSpPr>
        <p:spPr>
          <a:xfrm>
            <a:off x="4165600" y="6356358"/>
            <a:ext cx="3860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737600" y="6356358"/>
            <a:ext cx="2844800" cy="365125"/>
          </a:xfrm>
          <a:prstGeom prst="rect">
            <a:avLst/>
          </a:prstGeom>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9262042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a:prstGeom prst="rect">
            <a:avLst/>
          </a:prstGeom>
        </p:spPr>
        <p:txBody>
          <a:bodyPr/>
          <a:lstStyle/>
          <a:p>
            <a:r>
              <a:rPr lang="en-US"/>
              <a:t>Click to edit Master title style</a:t>
            </a:r>
          </a:p>
        </p:txBody>
      </p:sp>
      <p:sp>
        <p:nvSpPr>
          <p:cNvPr id="3" name="Vertical Text Placeholder 2"/>
          <p:cNvSpPr>
            <a:spLocks noGrp="1"/>
          </p:cNvSpPr>
          <p:nvPr>
            <p:ph type="body" orient="vert" idx="1"/>
          </p:nvPr>
        </p:nvSpPr>
        <p:spPr>
          <a:xfrm>
            <a:off x="609600" y="1600206"/>
            <a:ext cx="10972800" cy="4525963"/>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609600" y="6356358"/>
            <a:ext cx="2844800" cy="365125"/>
          </a:xfrm>
          <a:prstGeom prst="rect">
            <a:avLst/>
          </a:prstGeom>
        </p:spPr>
        <p:txBody>
          <a:bodyPr/>
          <a:lstStyle/>
          <a:p>
            <a:fld id="{1D8BD707-D9CF-40AE-B4C6-C98DA3205C09}" type="datetimeFigureOut">
              <a:rPr lang="en-US" smtClean="0"/>
              <a:pPr/>
              <a:t>10/10/23</a:t>
            </a:fld>
            <a:endParaRPr lang="en-US"/>
          </a:p>
        </p:txBody>
      </p:sp>
      <p:sp>
        <p:nvSpPr>
          <p:cNvPr id="5" name="Footer Placeholder 4"/>
          <p:cNvSpPr>
            <a:spLocks noGrp="1"/>
          </p:cNvSpPr>
          <p:nvPr>
            <p:ph type="ftr" sz="quarter" idx="11"/>
          </p:nvPr>
        </p:nvSpPr>
        <p:spPr>
          <a:xfrm>
            <a:off x="4165600" y="6356358"/>
            <a:ext cx="3860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737600" y="6356358"/>
            <a:ext cx="2844800" cy="365125"/>
          </a:xfrm>
          <a:prstGeom prst="rect">
            <a:avLst/>
          </a:prstGeom>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42327648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46"/>
            <a:ext cx="2743200" cy="5851525"/>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46"/>
            <a:ext cx="8026400" cy="5851525"/>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609600" y="6356358"/>
            <a:ext cx="2844800" cy="365125"/>
          </a:xfrm>
          <a:prstGeom prst="rect">
            <a:avLst/>
          </a:prstGeom>
        </p:spPr>
        <p:txBody>
          <a:bodyPr/>
          <a:lstStyle/>
          <a:p>
            <a:fld id="{1D8BD707-D9CF-40AE-B4C6-C98DA3205C09}" type="datetimeFigureOut">
              <a:rPr lang="en-US" smtClean="0"/>
              <a:pPr/>
              <a:t>10/10/23</a:t>
            </a:fld>
            <a:endParaRPr lang="en-US"/>
          </a:p>
        </p:txBody>
      </p:sp>
      <p:sp>
        <p:nvSpPr>
          <p:cNvPr id="5" name="Footer Placeholder 4"/>
          <p:cNvSpPr>
            <a:spLocks noGrp="1"/>
          </p:cNvSpPr>
          <p:nvPr>
            <p:ph type="ftr" sz="quarter" idx="11"/>
          </p:nvPr>
        </p:nvSpPr>
        <p:spPr>
          <a:xfrm>
            <a:off x="4165600" y="6356358"/>
            <a:ext cx="3860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737600" y="6356358"/>
            <a:ext cx="2844800" cy="365125"/>
          </a:xfrm>
          <a:prstGeom prst="rect">
            <a:avLst/>
          </a:prstGeom>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35308312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6569F0C1-D6E8-4288-99F4-1610555252E2}" type="datetimeFigureOut">
              <a:rPr lang="en-IN" smtClean="0"/>
              <a:pPr/>
              <a:t>10/10/23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5C18763-8695-48C8-B646-CF9DA243EE91}" type="slidenum">
              <a:rPr lang="en-IN" smtClean="0"/>
              <a:pPr/>
              <a:t>‹#›</a:t>
            </a:fld>
            <a:endParaRPr lang="en-IN"/>
          </a:p>
        </p:txBody>
      </p:sp>
    </p:spTree>
    <p:extLst>
      <p:ext uri="{BB962C8B-B14F-4D97-AF65-F5344CB8AC3E}">
        <p14:creationId xmlns:p14="http://schemas.microsoft.com/office/powerpoint/2010/main" val="268944294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6569F0C1-D6E8-4288-99F4-1610555252E2}" type="datetimeFigureOut">
              <a:rPr lang="en-IN" smtClean="0"/>
              <a:pPr/>
              <a:t>10/10/23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5C18763-8695-48C8-B646-CF9DA243EE91}" type="slidenum">
              <a:rPr lang="en-IN" smtClean="0"/>
              <a:pPr/>
              <a:t>‹#›</a:t>
            </a:fld>
            <a:endParaRPr lang="en-IN"/>
          </a:p>
        </p:txBody>
      </p:sp>
    </p:spTree>
    <p:extLst>
      <p:ext uri="{BB962C8B-B14F-4D97-AF65-F5344CB8AC3E}">
        <p14:creationId xmlns:p14="http://schemas.microsoft.com/office/powerpoint/2010/main" val="300031543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569F0C1-D6E8-4288-99F4-1610555252E2}" type="datetimeFigureOut">
              <a:rPr lang="en-IN" smtClean="0"/>
              <a:pPr/>
              <a:t>10/10/23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5C18763-8695-48C8-B646-CF9DA243EE91}" type="slidenum">
              <a:rPr lang="en-IN" smtClean="0"/>
              <a:pPr/>
              <a:t>‹#›</a:t>
            </a:fld>
            <a:endParaRPr lang="en-IN"/>
          </a:p>
        </p:txBody>
      </p:sp>
    </p:spTree>
    <p:extLst>
      <p:ext uri="{BB962C8B-B14F-4D97-AF65-F5344CB8AC3E}">
        <p14:creationId xmlns:p14="http://schemas.microsoft.com/office/powerpoint/2010/main" val="172308499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6569F0C1-D6E8-4288-99F4-1610555252E2}" type="datetimeFigureOut">
              <a:rPr lang="en-IN" smtClean="0"/>
              <a:pPr/>
              <a:t>10/10/23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5C18763-8695-48C8-B646-CF9DA243EE91}" type="slidenum">
              <a:rPr lang="en-IN" smtClean="0"/>
              <a:pPr/>
              <a:t>‹#›</a:t>
            </a:fld>
            <a:endParaRPr lang="en-IN"/>
          </a:p>
        </p:txBody>
      </p:sp>
    </p:spTree>
    <p:extLst>
      <p:ext uri="{BB962C8B-B14F-4D97-AF65-F5344CB8AC3E}">
        <p14:creationId xmlns:p14="http://schemas.microsoft.com/office/powerpoint/2010/main" val="309757796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6569F0C1-D6E8-4288-99F4-1610555252E2}" type="datetimeFigureOut">
              <a:rPr lang="en-IN" smtClean="0"/>
              <a:pPr/>
              <a:t>10/10/23</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15C18763-8695-48C8-B646-CF9DA243EE91}" type="slidenum">
              <a:rPr lang="en-IN" smtClean="0"/>
              <a:pPr/>
              <a:t>‹#›</a:t>
            </a:fld>
            <a:endParaRPr lang="en-IN"/>
          </a:p>
        </p:txBody>
      </p:sp>
    </p:spTree>
    <p:extLst>
      <p:ext uri="{BB962C8B-B14F-4D97-AF65-F5344CB8AC3E}">
        <p14:creationId xmlns:p14="http://schemas.microsoft.com/office/powerpoint/2010/main" val="227252235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6569F0C1-D6E8-4288-99F4-1610555252E2}" type="datetimeFigureOut">
              <a:rPr lang="en-IN" smtClean="0"/>
              <a:pPr/>
              <a:t>10/10/23</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15C18763-8695-48C8-B646-CF9DA243EE91}" type="slidenum">
              <a:rPr lang="en-IN" smtClean="0"/>
              <a:pPr/>
              <a:t>‹#›</a:t>
            </a:fld>
            <a:endParaRPr lang="en-IN"/>
          </a:p>
        </p:txBody>
      </p:sp>
    </p:spTree>
    <p:extLst>
      <p:ext uri="{BB962C8B-B14F-4D97-AF65-F5344CB8AC3E}">
        <p14:creationId xmlns:p14="http://schemas.microsoft.com/office/powerpoint/2010/main" val="345576302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569F0C1-D6E8-4288-99F4-1610555252E2}" type="datetimeFigureOut">
              <a:rPr lang="en-IN" smtClean="0"/>
              <a:pPr/>
              <a:t>10/10/23</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15C18763-8695-48C8-B646-CF9DA243EE91}" type="slidenum">
              <a:rPr lang="en-IN" smtClean="0"/>
              <a:pPr/>
              <a:t>‹#›</a:t>
            </a:fld>
            <a:endParaRPr lang="en-IN"/>
          </a:p>
        </p:txBody>
      </p:sp>
    </p:spTree>
    <p:extLst>
      <p:ext uri="{BB962C8B-B14F-4D97-AF65-F5344CB8AC3E}">
        <p14:creationId xmlns:p14="http://schemas.microsoft.com/office/powerpoint/2010/main" val="332887043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569F0C1-D6E8-4288-99F4-1610555252E2}" type="datetimeFigureOut">
              <a:rPr lang="en-IN" smtClean="0"/>
              <a:pPr/>
              <a:t>10/10/23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5C18763-8695-48C8-B646-CF9DA243EE91}" type="slidenum">
              <a:rPr lang="en-IN" smtClean="0"/>
              <a:pPr/>
              <a:t>‹#›</a:t>
            </a:fld>
            <a:endParaRPr lang="en-IN"/>
          </a:p>
        </p:txBody>
      </p:sp>
    </p:spTree>
    <p:extLst>
      <p:ext uri="{BB962C8B-B14F-4D97-AF65-F5344CB8AC3E}">
        <p14:creationId xmlns:p14="http://schemas.microsoft.com/office/powerpoint/2010/main" val="272978329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569F0C1-D6E8-4288-99F4-1610555252E2}" type="datetimeFigureOut">
              <a:rPr lang="en-IN" smtClean="0"/>
              <a:pPr/>
              <a:t>10/10/23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5C18763-8695-48C8-B646-CF9DA243EE91}" type="slidenum">
              <a:rPr lang="en-IN" smtClean="0"/>
              <a:pPr/>
              <a:t>‹#›</a:t>
            </a:fld>
            <a:endParaRPr lang="en-IN"/>
          </a:p>
        </p:txBody>
      </p:sp>
    </p:spTree>
    <p:extLst>
      <p:ext uri="{BB962C8B-B14F-4D97-AF65-F5344CB8AC3E}">
        <p14:creationId xmlns:p14="http://schemas.microsoft.com/office/powerpoint/2010/main" val="157820902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6569F0C1-D6E8-4288-99F4-1610555252E2}" type="datetimeFigureOut">
              <a:rPr lang="en-IN" smtClean="0"/>
              <a:pPr/>
              <a:t>10/10/23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5C18763-8695-48C8-B646-CF9DA243EE91}" type="slidenum">
              <a:rPr lang="en-IN" smtClean="0"/>
              <a:pPr/>
              <a:t>‹#›</a:t>
            </a:fld>
            <a:endParaRPr lang="en-IN"/>
          </a:p>
        </p:txBody>
      </p:sp>
    </p:spTree>
    <p:extLst>
      <p:ext uri="{BB962C8B-B14F-4D97-AF65-F5344CB8AC3E}">
        <p14:creationId xmlns:p14="http://schemas.microsoft.com/office/powerpoint/2010/main" val="13946646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6569F0C1-D6E8-4288-99F4-1610555252E2}" type="datetimeFigureOut">
              <a:rPr lang="en-IN" smtClean="0"/>
              <a:pPr/>
              <a:t>10/10/23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5C18763-8695-48C8-B646-CF9DA243EE91}" type="slidenum">
              <a:rPr lang="en-IN" smtClean="0"/>
              <a:pPr/>
              <a:t>‹#›</a:t>
            </a:fld>
            <a:endParaRPr lang="en-IN"/>
          </a:p>
        </p:txBody>
      </p:sp>
    </p:spTree>
    <p:extLst>
      <p:ext uri="{BB962C8B-B14F-4D97-AF65-F5344CB8AC3E}">
        <p14:creationId xmlns:p14="http://schemas.microsoft.com/office/powerpoint/2010/main" val="81164694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116F600A-2000-49E1-8F7C-185632D87703}" type="datetimeFigureOut">
              <a:rPr lang="en-IN" smtClean="0"/>
              <a:pPr/>
              <a:t>10/10/23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80BDF3A-BC0B-4BD1-9741-87BA411FA5F2}" type="slidenum">
              <a:rPr lang="en-IN" smtClean="0"/>
              <a:pPr/>
              <a:t>‹#›</a:t>
            </a:fld>
            <a:endParaRPr lang="en-IN"/>
          </a:p>
        </p:txBody>
      </p:sp>
    </p:spTree>
    <p:extLst>
      <p:ext uri="{BB962C8B-B14F-4D97-AF65-F5344CB8AC3E}">
        <p14:creationId xmlns:p14="http://schemas.microsoft.com/office/powerpoint/2010/main" val="361763113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116F600A-2000-49E1-8F7C-185632D87703}" type="datetimeFigureOut">
              <a:rPr lang="en-IN" smtClean="0"/>
              <a:pPr/>
              <a:t>10/10/23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80BDF3A-BC0B-4BD1-9741-87BA411FA5F2}" type="slidenum">
              <a:rPr lang="en-IN" smtClean="0"/>
              <a:pPr/>
              <a:t>‹#›</a:t>
            </a:fld>
            <a:endParaRPr lang="en-IN"/>
          </a:p>
        </p:txBody>
      </p:sp>
    </p:spTree>
    <p:extLst>
      <p:ext uri="{BB962C8B-B14F-4D97-AF65-F5344CB8AC3E}">
        <p14:creationId xmlns:p14="http://schemas.microsoft.com/office/powerpoint/2010/main" val="147730978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16F600A-2000-49E1-8F7C-185632D87703}" type="datetimeFigureOut">
              <a:rPr lang="en-IN" smtClean="0"/>
              <a:pPr/>
              <a:t>10/10/23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80BDF3A-BC0B-4BD1-9741-87BA411FA5F2}" type="slidenum">
              <a:rPr lang="en-IN" smtClean="0"/>
              <a:pPr/>
              <a:t>‹#›</a:t>
            </a:fld>
            <a:endParaRPr lang="en-IN"/>
          </a:p>
        </p:txBody>
      </p:sp>
    </p:spTree>
    <p:extLst>
      <p:ext uri="{BB962C8B-B14F-4D97-AF65-F5344CB8AC3E}">
        <p14:creationId xmlns:p14="http://schemas.microsoft.com/office/powerpoint/2010/main" val="219750169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116F600A-2000-49E1-8F7C-185632D87703}" type="datetimeFigureOut">
              <a:rPr lang="en-IN" smtClean="0"/>
              <a:pPr/>
              <a:t>10/10/23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80BDF3A-BC0B-4BD1-9741-87BA411FA5F2}" type="slidenum">
              <a:rPr lang="en-IN" smtClean="0"/>
              <a:pPr/>
              <a:t>‹#›</a:t>
            </a:fld>
            <a:endParaRPr lang="en-IN"/>
          </a:p>
        </p:txBody>
      </p:sp>
    </p:spTree>
    <p:extLst>
      <p:ext uri="{BB962C8B-B14F-4D97-AF65-F5344CB8AC3E}">
        <p14:creationId xmlns:p14="http://schemas.microsoft.com/office/powerpoint/2010/main" val="390833270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116F600A-2000-49E1-8F7C-185632D87703}" type="datetimeFigureOut">
              <a:rPr lang="en-IN" smtClean="0"/>
              <a:pPr/>
              <a:t>10/10/23</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680BDF3A-BC0B-4BD1-9741-87BA411FA5F2}" type="slidenum">
              <a:rPr lang="en-IN" smtClean="0"/>
              <a:pPr/>
              <a:t>‹#›</a:t>
            </a:fld>
            <a:endParaRPr lang="en-IN"/>
          </a:p>
        </p:txBody>
      </p:sp>
    </p:spTree>
    <p:extLst>
      <p:ext uri="{BB962C8B-B14F-4D97-AF65-F5344CB8AC3E}">
        <p14:creationId xmlns:p14="http://schemas.microsoft.com/office/powerpoint/2010/main" val="71332715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116F600A-2000-49E1-8F7C-185632D87703}" type="datetimeFigureOut">
              <a:rPr lang="en-IN" smtClean="0"/>
              <a:pPr/>
              <a:t>10/10/23</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680BDF3A-BC0B-4BD1-9741-87BA411FA5F2}" type="slidenum">
              <a:rPr lang="en-IN" smtClean="0"/>
              <a:pPr/>
              <a:t>‹#›</a:t>
            </a:fld>
            <a:endParaRPr lang="en-IN"/>
          </a:p>
        </p:txBody>
      </p:sp>
    </p:spTree>
    <p:extLst>
      <p:ext uri="{BB962C8B-B14F-4D97-AF65-F5344CB8AC3E}">
        <p14:creationId xmlns:p14="http://schemas.microsoft.com/office/powerpoint/2010/main" val="31458373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16F600A-2000-49E1-8F7C-185632D87703}" type="datetimeFigureOut">
              <a:rPr lang="en-IN" smtClean="0"/>
              <a:pPr/>
              <a:t>10/10/23</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680BDF3A-BC0B-4BD1-9741-87BA411FA5F2}" type="slidenum">
              <a:rPr lang="en-IN" smtClean="0"/>
              <a:pPr/>
              <a:t>‹#›</a:t>
            </a:fld>
            <a:endParaRPr lang="en-IN"/>
          </a:p>
        </p:txBody>
      </p:sp>
    </p:spTree>
    <p:extLst>
      <p:ext uri="{BB962C8B-B14F-4D97-AF65-F5344CB8AC3E}">
        <p14:creationId xmlns:p14="http://schemas.microsoft.com/office/powerpoint/2010/main" val="263664816"/>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16F600A-2000-49E1-8F7C-185632D87703}" type="datetimeFigureOut">
              <a:rPr lang="en-IN" smtClean="0"/>
              <a:pPr/>
              <a:t>10/10/23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80BDF3A-BC0B-4BD1-9741-87BA411FA5F2}" type="slidenum">
              <a:rPr lang="en-IN" smtClean="0"/>
              <a:pPr/>
              <a:t>‹#›</a:t>
            </a:fld>
            <a:endParaRPr lang="en-IN"/>
          </a:p>
        </p:txBody>
      </p:sp>
    </p:spTree>
    <p:extLst>
      <p:ext uri="{BB962C8B-B14F-4D97-AF65-F5344CB8AC3E}">
        <p14:creationId xmlns:p14="http://schemas.microsoft.com/office/powerpoint/2010/main" val="200538212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16F600A-2000-49E1-8F7C-185632D87703}" type="datetimeFigureOut">
              <a:rPr lang="en-IN" smtClean="0"/>
              <a:pPr/>
              <a:t>10/10/23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80BDF3A-BC0B-4BD1-9741-87BA411FA5F2}" type="slidenum">
              <a:rPr lang="en-IN" smtClean="0"/>
              <a:pPr/>
              <a:t>‹#›</a:t>
            </a:fld>
            <a:endParaRPr lang="en-IN"/>
          </a:p>
        </p:txBody>
      </p:sp>
    </p:spTree>
    <p:extLst>
      <p:ext uri="{BB962C8B-B14F-4D97-AF65-F5344CB8AC3E}">
        <p14:creationId xmlns:p14="http://schemas.microsoft.com/office/powerpoint/2010/main" val="3456084115"/>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116F600A-2000-49E1-8F7C-185632D87703}" type="datetimeFigureOut">
              <a:rPr lang="en-IN" smtClean="0"/>
              <a:pPr/>
              <a:t>10/10/23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80BDF3A-BC0B-4BD1-9741-87BA411FA5F2}" type="slidenum">
              <a:rPr lang="en-IN" smtClean="0"/>
              <a:pPr/>
              <a:t>‹#›</a:t>
            </a:fld>
            <a:endParaRPr lang="en-IN"/>
          </a:p>
        </p:txBody>
      </p:sp>
    </p:spTree>
    <p:extLst>
      <p:ext uri="{BB962C8B-B14F-4D97-AF65-F5344CB8AC3E}">
        <p14:creationId xmlns:p14="http://schemas.microsoft.com/office/powerpoint/2010/main" val="2607397228"/>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116F600A-2000-49E1-8F7C-185632D87703}" type="datetimeFigureOut">
              <a:rPr lang="en-IN" smtClean="0"/>
              <a:pPr/>
              <a:t>10/10/23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80BDF3A-BC0B-4BD1-9741-87BA411FA5F2}" type="slidenum">
              <a:rPr lang="en-IN" smtClean="0"/>
              <a:pPr/>
              <a:t>‹#›</a:t>
            </a:fld>
            <a:endParaRPr lang="en-IN"/>
          </a:p>
        </p:txBody>
      </p:sp>
    </p:spTree>
    <p:extLst>
      <p:ext uri="{BB962C8B-B14F-4D97-AF65-F5344CB8AC3E}">
        <p14:creationId xmlns:p14="http://schemas.microsoft.com/office/powerpoint/2010/main" val="221174223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3" name="Rectangle 12"/>
          <p:cNvSpPr/>
          <p:nvPr/>
        </p:nvSpPr>
        <p:spPr>
          <a:xfrm>
            <a:off x="0" y="0"/>
            <a:ext cx="12192000" cy="152400"/>
          </a:xfrm>
          <a:prstGeom prst="rect">
            <a:avLst/>
          </a:prstGeom>
          <a:solidFill>
            <a:srgbClr val="0099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4" name="Rectangle 13"/>
          <p:cNvSpPr/>
          <p:nvPr/>
        </p:nvSpPr>
        <p:spPr>
          <a:xfrm>
            <a:off x="0" y="6705600"/>
            <a:ext cx="12192000" cy="152400"/>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6" name="TextBox 15"/>
          <p:cNvSpPr txBox="1"/>
          <p:nvPr/>
        </p:nvSpPr>
        <p:spPr>
          <a:xfrm>
            <a:off x="8481101" y="6655158"/>
            <a:ext cx="2472152" cy="253916"/>
          </a:xfrm>
          <a:prstGeom prst="rect">
            <a:avLst/>
          </a:prstGeom>
          <a:noFill/>
        </p:spPr>
        <p:txBody>
          <a:bodyPr wrap="none" rtlCol="0">
            <a:spAutoFit/>
          </a:bodyPr>
          <a:lstStyle/>
          <a:p>
            <a:r>
              <a:rPr lang="en-US" sz="1050">
                <a:solidFill>
                  <a:schemeClr val="bg1"/>
                </a:solidFill>
              </a:rPr>
              <a:t>©</a:t>
            </a:r>
            <a:r>
              <a:rPr lang="en-US" sz="1050" baseline="0">
                <a:solidFill>
                  <a:schemeClr val="bg1"/>
                </a:solidFill>
              </a:rPr>
              <a:t> </a:t>
            </a:r>
            <a:r>
              <a:rPr lang="en-US" sz="1050">
                <a:solidFill>
                  <a:schemeClr val="bg1"/>
                </a:solidFill>
              </a:rPr>
              <a:t>Ramaiah </a:t>
            </a:r>
            <a:r>
              <a:rPr lang="en-US" sz="1050" dirty="0">
                <a:solidFill>
                  <a:schemeClr val="bg1"/>
                </a:solidFill>
              </a:rPr>
              <a:t>University of Applied Sciences</a:t>
            </a:r>
          </a:p>
        </p:txBody>
      </p:sp>
      <p:sp>
        <p:nvSpPr>
          <p:cNvPr id="17" name="Rectangle 16"/>
          <p:cNvSpPr/>
          <p:nvPr/>
        </p:nvSpPr>
        <p:spPr>
          <a:xfrm>
            <a:off x="11723077" y="6324600"/>
            <a:ext cx="468923" cy="533400"/>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8" name="Rectangle 17"/>
          <p:cNvSpPr/>
          <p:nvPr/>
        </p:nvSpPr>
        <p:spPr>
          <a:xfrm>
            <a:off x="11699385" y="6324600"/>
            <a:ext cx="457176" cy="369332"/>
          </a:xfrm>
          <a:prstGeom prst="rect">
            <a:avLst/>
          </a:prstGeom>
        </p:spPr>
        <p:txBody>
          <a:bodyPr wrap="none">
            <a:spAutoFit/>
          </a:bodyPr>
          <a:lstStyle/>
          <a:p>
            <a:fld id="{B6F15528-21DE-4FAA-801E-634DDDAF4B2B}" type="slidenum">
              <a:rPr lang="en-US" sz="1800" smtClean="0">
                <a:solidFill>
                  <a:schemeClr val="bg1"/>
                </a:solidFill>
              </a:rPr>
              <a:pPr/>
              <a:t>‹#›</a:t>
            </a:fld>
            <a:endParaRPr lang="en-US" sz="1800" dirty="0">
              <a:solidFill>
                <a:schemeClr val="bg1"/>
              </a:solidFill>
            </a:endParaRPr>
          </a:p>
        </p:txBody>
      </p:sp>
      <p:sp>
        <p:nvSpPr>
          <p:cNvPr id="8" name="TextBox 7"/>
          <p:cNvSpPr txBox="1"/>
          <p:nvPr/>
        </p:nvSpPr>
        <p:spPr>
          <a:xfrm>
            <a:off x="-31698" y="6655158"/>
            <a:ext cx="2177199" cy="253916"/>
          </a:xfrm>
          <a:prstGeom prst="rect">
            <a:avLst/>
          </a:prstGeom>
          <a:noFill/>
        </p:spPr>
        <p:txBody>
          <a:bodyPr wrap="none" rtlCol="0">
            <a:spAutoFit/>
          </a:bodyPr>
          <a:lstStyle/>
          <a:p>
            <a:r>
              <a:rPr lang="en-US" sz="1050" dirty="0">
                <a:solidFill>
                  <a:schemeClr val="bg1"/>
                </a:solidFill>
              </a:rPr>
              <a:t>Faculty of Engineering &amp; Technology</a:t>
            </a:r>
          </a:p>
        </p:txBody>
      </p:sp>
      <p:pic>
        <p:nvPicPr>
          <p:cNvPr id="10" name="Picture 9"/>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2107" y="6021288"/>
            <a:ext cx="687754" cy="684312"/>
          </a:xfrm>
          <a:prstGeom prst="rect">
            <a:avLst/>
          </a:prstGeom>
        </p:spPr>
      </p:pic>
    </p:spTree>
    <p:extLst>
      <p:ext uri="{BB962C8B-B14F-4D97-AF65-F5344CB8AC3E}">
        <p14:creationId xmlns:p14="http://schemas.microsoft.com/office/powerpoint/2010/main" val="3802707975"/>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569F0C1-D6E8-4288-99F4-1610555252E2}" type="datetimeFigureOut">
              <a:rPr lang="en-IN" smtClean="0"/>
              <a:pPr/>
              <a:t>10/10/23</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5C18763-8695-48C8-B646-CF9DA243EE91}" type="slidenum">
              <a:rPr lang="en-IN" smtClean="0"/>
              <a:pPr/>
              <a:t>‹#›</a:t>
            </a:fld>
            <a:endParaRPr lang="en-IN"/>
          </a:p>
        </p:txBody>
      </p:sp>
    </p:spTree>
    <p:extLst>
      <p:ext uri="{BB962C8B-B14F-4D97-AF65-F5344CB8AC3E}">
        <p14:creationId xmlns:p14="http://schemas.microsoft.com/office/powerpoint/2010/main" val="2660972957"/>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16F600A-2000-49E1-8F7C-185632D87703}" type="datetimeFigureOut">
              <a:rPr lang="en-IN" smtClean="0"/>
              <a:pPr/>
              <a:t>10/10/23</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80BDF3A-BC0B-4BD1-9741-87BA411FA5F2}" type="slidenum">
              <a:rPr lang="en-IN" smtClean="0"/>
              <a:pPr/>
              <a:t>‹#›</a:t>
            </a:fld>
            <a:endParaRPr lang="en-IN"/>
          </a:p>
        </p:txBody>
      </p:sp>
    </p:spTree>
    <p:extLst>
      <p:ext uri="{BB962C8B-B14F-4D97-AF65-F5344CB8AC3E}">
        <p14:creationId xmlns:p14="http://schemas.microsoft.com/office/powerpoint/2010/main" val="386822817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312653"/>
            <a:ext cx="10363200" cy="728881"/>
          </a:xfrm>
        </p:spPr>
        <p:txBody>
          <a:bodyPr lIns="91440" tIns="45720" rIns="91440" bIns="45720" anchor="t"/>
          <a:lstStyle/>
          <a:p>
            <a:r>
              <a:rPr lang="en-US" sz="3200" b="1" dirty="0" err="1">
                <a:solidFill>
                  <a:srgbClr val="C00000"/>
                </a:solidFill>
              </a:rPr>
              <a:t>TrafficSense</a:t>
            </a:r>
            <a:r>
              <a:rPr lang="en-US" sz="3200" b="1" dirty="0">
                <a:solidFill>
                  <a:srgbClr val="C00000"/>
                </a:solidFill>
              </a:rPr>
              <a:t>: Harnessing Interpretable Machine Learning to Revolutionize Urban Traffic Congestion Prediction</a:t>
            </a:r>
            <a:br>
              <a:rPr lang="en-IN" dirty="0">
                <a:solidFill>
                  <a:srgbClr val="7030A0"/>
                </a:solidFill>
                <a:ea typeface="+mj-lt"/>
                <a:cs typeface="+mj-lt"/>
              </a:rPr>
            </a:br>
            <a:r>
              <a:rPr lang="en-IN" dirty="0">
                <a:ea typeface="+mj-lt"/>
                <a:cs typeface="+mj-lt"/>
              </a:rPr>
              <a:t> </a:t>
            </a:r>
            <a:r>
              <a:rPr lang="en-IN" dirty="0">
                <a:solidFill>
                  <a:srgbClr val="FF0000"/>
                </a:solidFill>
                <a:cs typeface="Calibri"/>
              </a:rPr>
              <a:t> </a:t>
            </a:r>
            <a:endParaRPr lang="en-US" dirty="0">
              <a:solidFill>
                <a:srgbClr val="FF0000"/>
              </a:solidFill>
              <a:cs typeface="Calibri"/>
            </a:endParaRPr>
          </a:p>
        </p:txBody>
      </p:sp>
      <p:sp>
        <p:nvSpPr>
          <p:cNvPr id="3" name="Subtitle 2"/>
          <p:cNvSpPr>
            <a:spLocks noGrp="1"/>
          </p:cNvSpPr>
          <p:nvPr>
            <p:ph type="subTitle" idx="1"/>
          </p:nvPr>
        </p:nvSpPr>
        <p:spPr>
          <a:xfrm>
            <a:off x="1828800" y="3886200"/>
            <a:ext cx="8534400" cy="1629336"/>
          </a:xfrm>
        </p:spPr>
        <p:txBody>
          <a:bodyPr lIns="91440" tIns="45720" rIns="91440" bIns="45720" anchor="t"/>
          <a:lstStyle/>
          <a:p>
            <a:pPr algn="l"/>
            <a:endParaRPr lang="en-IN" dirty="0">
              <a:ea typeface="+mn-lt"/>
              <a:cs typeface="+mn-lt"/>
            </a:endParaRPr>
          </a:p>
          <a:p>
            <a:pPr algn="l"/>
            <a:endParaRPr lang="en-IN" dirty="0">
              <a:solidFill>
                <a:schemeClr val="tx1"/>
              </a:solidFill>
              <a:cs typeface="Calibri"/>
            </a:endParaRPr>
          </a:p>
        </p:txBody>
      </p:sp>
      <p:sp>
        <p:nvSpPr>
          <p:cNvPr id="4" name="Title 1"/>
          <p:cNvSpPr txBox="1">
            <a:spLocks/>
          </p:cNvSpPr>
          <p:nvPr/>
        </p:nvSpPr>
        <p:spPr>
          <a:xfrm>
            <a:off x="914400" y="739106"/>
            <a:ext cx="10363200" cy="728881"/>
          </a:xfrm>
          <a:prstGeom prst="rect">
            <a:avLst/>
          </a:prstGeom>
        </p:spPr>
        <p:txBody>
          <a:bodyPr lIns="91440" tIns="45720" rIns="91440" bIns="45720" anchor="t"/>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IN" sz="3600" dirty="0"/>
              <a:t>Department of Computer Science and Engineering</a:t>
            </a:r>
          </a:p>
          <a:p>
            <a:r>
              <a:rPr lang="en-IN" b="1" dirty="0"/>
              <a:t>20CSP403A</a:t>
            </a:r>
            <a:r>
              <a:rPr lang="en-IN" dirty="0">
                <a:ea typeface="+mj-lt"/>
                <a:cs typeface="+mj-lt"/>
              </a:rPr>
              <a:t>: Seminar</a:t>
            </a:r>
            <a:endParaRPr lang="en-IN" dirty="0"/>
          </a:p>
        </p:txBody>
      </p:sp>
      <p:graphicFrame>
        <p:nvGraphicFramePr>
          <p:cNvPr id="6" name="Table 5">
            <a:extLst>
              <a:ext uri="{FF2B5EF4-FFF2-40B4-BE49-F238E27FC236}">
                <a16:creationId xmlns:a16="http://schemas.microsoft.com/office/drawing/2014/main" id="{21023157-828A-4E37-995E-EC83E9F007A3}"/>
              </a:ext>
            </a:extLst>
          </p:cNvPr>
          <p:cNvGraphicFramePr>
            <a:graphicFrameLocks noGrp="1"/>
          </p:cNvGraphicFramePr>
          <p:nvPr>
            <p:extLst>
              <p:ext uri="{D42A27DB-BD31-4B8C-83A1-F6EECF244321}">
                <p14:modId xmlns:p14="http://schemas.microsoft.com/office/powerpoint/2010/main" val="3911730452"/>
              </p:ext>
            </p:extLst>
          </p:nvPr>
        </p:nvGraphicFramePr>
        <p:xfrm>
          <a:off x="914400" y="4052496"/>
          <a:ext cx="9936480" cy="1463040"/>
        </p:xfrm>
        <a:graphic>
          <a:graphicData uri="http://schemas.openxmlformats.org/drawingml/2006/table">
            <a:tbl>
              <a:tblPr firstRow="1" bandRow="1">
                <a:tableStyleId>{5C22544A-7EE6-4342-B048-85BDC9FD1C3A}</a:tableStyleId>
              </a:tblPr>
              <a:tblGrid>
                <a:gridCol w="1370848">
                  <a:extLst>
                    <a:ext uri="{9D8B030D-6E8A-4147-A177-3AD203B41FA5}">
                      <a16:colId xmlns:a16="http://schemas.microsoft.com/office/drawing/2014/main" val="1289385028"/>
                    </a:ext>
                  </a:extLst>
                </a:gridCol>
                <a:gridCol w="1799072">
                  <a:extLst>
                    <a:ext uri="{9D8B030D-6E8A-4147-A177-3AD203B41FA5}">
                      <a16:colId xmlns:a16="http://schemas.microsoft.com/office/drawing/2014/main" val="894620962"/>
                    </a:ext>
                  </a:extLst>
                </a:gridCol>
                <a:gridCol w="1633728">
                  <a:extLst>
                    <a:ext uri="{9D8B030D-6E8A-4147-A177-3AD203B41FA5}">
                      <a16:colId xmlns:a16="http://schemas.microsoft.com/office/drawing/2014/main" val="3771890396"/>
                    </a:ext>
                  </a:extLst>
                </a:gridCol>
                <a:gridCol w="2523744">
                  <a:extLst>
                    <a:ext uri="{9D8B030D-6E8A-4147-A177-3AD203B41FA5}">
                      <a16:colId xmlns:a16="http://schemas.microsoft.com/office/drawing/2014/main" val="160903189"/>
                    </a:ext>
                  </a:extLst>
                </a:gridCol>
                <a:gridCol w="2609088">
                  <a:extLst>
                    <a:ext uri="{9D8B030D-6E8A-4147-A177-3AD203B41FA5}">
                      <a16:colId xmlns:a16="http://schemas.microsoft.com/office/drawing/2014/main" val="3711365992"/>
                    </a:ext>
                  </a:extLst>
                </a:gridCol>
              </a:tblGrid>
              <a:tr h="363453">
                <a:tc>
                  <a:txBody>
                    <a:bodyPr/>
                    <a:lstStyle/>
                    <a:p>
                      <a:pPr algn="ctr" rtl="0" fontAlgn="base"/>
                      <a:r>
                        <a:rPr lang="en-IN" dirty="0">
                          <a:effectLst/>
                        </a:rPr>
                        <a:t>Name​</a:t>
                      </a:r>
                      <a:endParaRPr lang="en-IN" b="1" i="0" dirty="0">
                        <a:solidFill>
                          <a:srgbClr val="FFFFFF"/>
                        </a:solidFill>
                        <a:effectLst/>
                      </a:endParaRPr>
                    </a:p>
                  </a:txBody>
                  <a:tcPr/>
                </a:tc>
                <a:tc>
                  <a:txBody>
                    <a:bodyPr/>
                    <a:lstStyle/>
                    <a:p>
                      <a:pPr lvl="0" algn="ctr">
                        <a:buNone/>
                      </a:pPr>
                      <a:r>
                        <a:rPr lang="en-IN" dirty="0">
                          <a:effectLst/>
                        </a:rPr>
                        <a:t>Aditya Kumar</a:t>
                      </a:r>
                    </a:p>
                  </a:txBody>
                  <a:tcPr/>
                </a:tc>
                <a:tc>
                  <a:txBody>
                    <a:bodyPr/>
                    <a:lstStyle/>
                    <a:p>
                      <a:pPr algn="ctr" rtl="0" fontAlgn="base"/>
                      <a:r>
                        <a:rPr lang="en-IN" dirty="0">
                          <a:effectLst/>
                        </a:rPr>
                        <a:t>Aishwarya V</a:t>
                      </a:r>
                    </a:p>
                  </a:txBody>
                  <a:tcPr/>
                </a:tc>
                <a:tc>
                  <a:txBody>
                    <a:bodyPr/>
                    <a:lstStyle/>
                    <a:p>
                      <a:pPr algn="ctr" rtl="0" fontAlgn="base"/>
                      <a:r>
                        <a:rPr lang="en-IN" dirty="0">
                          <a:effectLst/>
                        </a:rPr>
                        <a:t>Syed </a:t>
                      </a:r>
                      <a:r>
                        <a:rPr lang="en-IN" dirty="0" err="1">
                          <a:effectLst/>
                        </a:rPr>
                        <a:t>Khubaib</a:t>
                      </a:r>
                      <a:r>
                        <a:rPr lang="en-IN" dirty="0">
                          <a:effectLst/>
                        </a:rPr>
                        <a:t> </a:t>
                      </a:r>
                      <a:r>
                        <a:rPr lang="en-IN" dirty="0" err="1">
                          <a:effectLst/>
                        </a:rPr>
                        <a:t>Shaheen</a:t>
                      </a:r>
                      <a:endParaRPr lang="en-IN" dirty="0">
                        <a:effectLst/>
                      </a:endParaRPr>
                    </a:p>
                  </a:txBody>
                  <a:tcPr/>
                </a:tc>
                <a:tc>
                  <a:txBody>
                    <a:bodyPr/>
                    <a:lstStyle/>
                    <a:p>
                      <a:pPr algn="ctr" rtl="0" fontAlgn="base"/>
                      <a:r>
                        <a:rPr lang="en-IN" dirty="0">
                          <a:effectLst/>
                        </a:rPr>
                        <a:t>Utkarsh Singh Bharadwaj</a:t>
                      </a:r>
                    </a:p>
                  </a:txBody>
                  <a:tcPr/>
                </a:tc>
                <a:extLst>
                  <a:ext uri="{0D108BD9-81ED-4DB2-BD59-A6C34878D82A}">
                    <a16:rowId xmlns:a16="http://schemas.microsoft.com/office/drawing/2014/main" val="2218253649"/>
                  </a:ext>
                </a:extLst>
              </a:tr>
              <a:tr h="281835">
                <a:tc>
                  <a:txBody>
                    <a:bodyPr/>
                    <a:lstStyle/>
                    <a:p>
                      <a:pPr algn="ctr" rtl="0" fontAlgn="base"/>
                      <a:r>
                        <a:rPr lang="en-IN" dirty="0">
                          <a:effectLst/>
                        </a:rPr>
                        <a:t>Register No​</a:t>
                      </a:r>
                      <a:endParaRPr lang="en-IN" b="0" i="0" dirty="0">
                        <a:solidFill>
                          <a:srgbClr val="000000"/>
                        </a:solidFill>
                        <a:effectLst/>
                      </a:endParaRPr>
                    </a:p>
                  </a:txBody>
                  <a:tcPr/>
                </a:tc>
                <a:tc>
                  <a:txBody>
                    <a:bodyPr/>
                    <a:lstStyle/>
                    <a:p>
                      <a:pPr lvl="0" algn="ctr">
                        <a:buNone/>
                      </a:pPr>
                      <a:r>
                        <a:rPr lang="en-IN" dirty="0">
                          <a:effectLst/>
                        </a:rPr>
                        <a:t>20ETCS002004</a:t>
                      </a:r>
                    </a:p>
                  </a:txBody>
                  <a:tcPr/>
                </a:tc>
                <a:tc>
                  <a:txBody>
                    <a:bodyPr/>
                    <a:lstStyle/>
                    <a:p>
                      <a:pPr algn="ctr" rtl="0" fontAlgn="base"/>
                      <a:r>
                        <a:rPr lang="en-IN" b="0" i="0" dirty="0">
                          <a:solidFill>
                            <a:srgbClr val="000000"/>
                          </a:solidFill>
                          <a:effectLst/>
                        </a:rPr>
                        <a:t>20ETCS002007</a:t>
                      </a:r>
                    </a:p>
                  </a:txBody>
                  <a:tcPr/>
                </a:tc>
                <a:tc>
                  <a:txBody>
                    <a:bodyPr/>
                    <a:lstStyle/>
                    <a:p>
                      <a:pPr algn="ctr" rtl="0" fontAlgn="base"/>
                      <a:r>
                        <a:rPr lang="en-IN" b="0" i="0" dirty="0">
                          <a:solidFill>
                            <a:srgbClr val="000000"/>
                          </a:solidFill>
                          <a:effectLst/>
                        </a:rPr>
                        <a:t>20ETCS002141</a:t>
                      </a:r>
                    </a:p>
                  </a:txBody>
                  <a:tcPr/>
                </a:tc>
                <a:tc>
                  <a:txBody>
                    <a:bodyPr/>
                    <a:lstStyle/>
                    <a:p>
                      <a:pPr algn="ctr" rtl="0" fontAlgn="base"/>
                      <a:r>
                        <a:rPr lang="en-IN" b="0" i="0" dirty="0">
                          <a:solidFill>
                            <a:srgbClr val="000000"/>
                          </a:solidFill>
                          <a:effectLst/>
                        </a:rPr>
                        <a:t>20ETCS002147</a:t>
                      </a:r>
                    </a:p>
                  </a:txBody>
                  <a:tcPr/>
                </a:tc>
                <a:extLst>
                  <a:ext uri="{0D108BD9-81ED-4DB2-BD59-A6C34878D82A}">
                    <a16:rowId xmlns:a16="http://schemas.microsoft.com/office/drawing/2014/main" val="3892416322"/>
                  </a:ext>
                </a:extLst>
              </a:tr>
              <a:tr h="281835">
                <a:tc>
                  <a:txBody>
                    <a:bodyPr/>
                    <a:lstStyle/>
                    <a:p>
                      <a:pPr algn="ctr" rtl="0" fontAlgn="base"/>
                      <a:r>
                        <a:rPr lang="en-IN">
                          <a:effectLst/>
                        </a:rPr>
                        <a:t>Department ​</a:t>
                      </a:r>
                      <a:endParaRPr lang="en-IN" b="0" i="0">
                        <a:solidFill>
                          <a:srgbClr val="000000"/>
                        </a:solidFill>
                        <a:effectLst/>
                      </a:endParaRPr>
                    </a:p>
                  </a:txBody>
                  <a:tcPr/>
                </a:tc>
                <a:tc>
                  <a:txBody>
                    <a:bodyPr/>
                    <a:lstStyle/>
                    <a:p>
                      <a:pPr lvl="0" algn="ctr">
                        <a:buNone/>
                      </a:pPr>
                      <a:r>
                        <a:rPr lang="en-IN" dirty="0">
                          <a:effectLst/>
                        </a:rPr>
                        <a:t>CSE</a:t>
                      </a:r>
                    </a:p>
                  </a:txBody>
                  <a:tcPr/>
                </a:tc>
                <a:tc>
                  <a:txBody>
                    <a:bodyPr/>
                    <a:lstStyle/>
                    <a:p>
                      <a:pPr algn="ctr" rtl="0" fontAlgn="base"/>
                      <a:r>
                        <a:rPr lang="en-IN" b="0" i="0" dirty="0">
                          <a:solidFill>
                            <a:srgbClr val="000000"/>
                          </a:solidFill>
                          <a:effectLst/>
                        </a:rPr>
                        <a:t>CSE</a:t>
                      </a:r>
                    </a:p>
                  </a:txBody>
                  <a:tcPr/>
                </a:tc>
                <a:tc>
                  <a:txBody>
                    <a:bodyPr/>
                    <a:lstStyle/>
                    <a:p>
                      <a:pPr algn="ctr" rtl="0" fontAlgn="base"/>
                      <a:r>
                        <a:rPr lang="en-IN" b="0" i="0" dirty="0">
                          <a:solidFill>
                            <a:srgbClr val="000000"/>
                          </a:solidFill>
                          <a:effectLst/>
                        </a:rPr>
                        <a:t>CSE</a:t>
                      </a:r>
                    </a:p>
                  </a:txBody>
                  <a:tcPr/>
                </a:tc>
                <a:tc>
                  <a:txBody>
                    <a:bodyPr/>
                    <a:lstStyle/>
                    <a:p>
                      <a:pPr algn="ctr" rtl="0" fontAlgn="base"/>
                      <a:r>
                        <a:rPr lang="en-IN" b="0" i="0" dirty="0">
                          <a:solidFill>
                            <a:srgbClr val="000000"/>
                          </a:solidFill>
                          <a:effectLst/>
                        </a:rPr>
                        <a:t>CSE</a:t>
                      </a:r>
                    </a:p>
                  </a:txBody>
                  <a:tcPr/>
                </a:tc>
                <a:extLst>
                  <a:ext uri="{0D108BD9-81ED-4DB2-BD59-A6C34878D82A}">
                    <a16:rowId xmlns:a16="http://schemas.microsoft.com/office/drawing/2014/main" val="3765567378"/>
                  </a:ext>
                </a:extLst>
              </a:tr>
              <a:tr h="281835">
                <a:tc>
                  <a:txBody>
                    <a:bodyPr/>
                    <a:lstStyle/>
                    <a:p>
                      <a:pPr algn="ctr" rtl="0" fontAlgn="base"/>
                      <a:r>
                        <a:rPr lang="en-IN">
                          <a:effectLst/>
                        </a:rPr>
                        <a:t>Batch​</a:t>
                      </a:r>
                      <a:endParaRPr lang="en-IN" b="0" i="0">
                        <a:solidFill>
                          <a:srgbClr val="000000"/>
                        </a:solidFill>
                        <a:effectLst/>
                      </a:endParaRPr>
                    </a:p>
                  </a:txBody>
                  <a:tcPr/>
                </a:tc>
                <a:tc>
                  <a:txBody>
                    <a:bodyPr/>
                    <a:lstStyle/>
                    <a:p>
                      <a:pPr lvl="0" algn="ctr">
                        <a:buNone/>
                      </a:pPr>
                      <a:r>
                        <a:rPr lang="en-IN" dirty="0">
                          <a:effectLst/>
                        </a:rPr>
                        <a:t>2020</a:t>
                      </a:r>
                    </a:p>
                  </a:txBody>
                  <a:tcPr/>
                </a:tc>
                <a:tc>
                  <a:txBody>
                    <a:bodyPr/>
                    <a:lstStyle/>
                    <a:p>
                      <a:pPr algn="ctr" rtl="0" fontAlgn="base"/>
                      <a:r>
                        <a:rPr lang="en-IN" b="0" i="0" dirty="0">
                          <a:solidFill>
                            <a:srgbClr val="000000"/>
                          </a:solidFill>
                          <a:effectLst/>
                        </a:rPr>
                        <a:t>2020</a:t>
                      </a:r>
                    </a:p>
                  </a:txBody>
                  <a:tcPr/>
                </a:tc>
                <a:tc>
                  <a:txBody>
                    <a:bodyPr/>
                    <a:lstStyle/>
                    <a:p>
                      <a:pPr algn="ctr" rtl="0" fontAlgn="base"/>
                      <a:r>
                        <a:rPr lang="en-IN" b="0" i="0" dirty="0">
                          <a:solidFill>
                            <a:srgbClr val="000000"/>
                          </a:solidFill>
                          <a:effectLst/>
                        </a:rPr>
                        <a:t>2020</a:t>
                      </a:r>
                    </a:p>
                  </a:txBody>
                  <a:tcPr/>
                </a:tc>
                <a:tc>
                  <a:txBody>
                    <a:bodyPr/>
                    <a:lstStyle/>
                    <a:p>
                      <a:pPr algn="ctr" rtl="0" fontAlgn="base"/>
                      <a:r>
                        <a:rPr lang="en-IN" b="0" i="0" dirty="0">
                          <a:solidFill>
                            <a:srgbClr val="000000"/>
                          </a:solidFill>
                          <a:effectLst/>
                        </a:rPr>
                        <a:t>2020</a:t>
                      </a:r>
                    </a:p>
                  </a:txBody>
                  <a:tcPr/>
                </a:tc>
                <a:extLst>
                  <a:ext uri="{0D108BD9-81ED-4DB2-BD59-A6C34878D82A}">
                    <a16:rowId xmlns:a16="http://schemas.microsoft.com/office/drawing/2014/main" val="3844676791"/>
                  </a:ext>
                </a:extLst>
              </a:tr>
            </a:tbl>
          </a:graphicData>
        </a:graphic>
      </p:graphicFrame>
    </p:spTree>
    <p:extLst>
      <p:ext uri="{BB962C8B-B14F-4D97-AF65-F5344CB8AC3E}">
        <p14:creationId xmlns:p14="http://schemas.microsoft.com/office/powerpoint/2010/main" val="41288961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Outline</a:t>
            </a:r>
          </a:p>
        </p:txBody>
      </p:sp>
      <p:sp>
        <p:nvSpPr>
          <p:cNvPr id="3" name="Content Placeholder 2"/>
          <p:cNvSpPr>
            <a:spLocks noGrp="1"/>
          </p:cNvSpPr>
          <p:nvPr>
            <p:ph idx="1"/>
          </p:nvPr>
        </p:nvSpPr>
        <p:spPr/>
        <p:txBody>
          <a:bodyPr lIns="91440" tIns="45720" rIns="91440" bIns="45720" anchor="t"/>
          <a:lstStyle/>
          <a:p>
            <a:r>
              <a:rPr lang="en-US" dirty="0">
                <a:ea typeface="+mn-lt"/>
                <a:cs typeface="+mn-lt"/>
              </a:rPr>
              <a:t>Introduction </a:t>
            </a:r>
          </a:p>
          <a:p>
            <a:r>
              <a:rPr lang="en-US" dirty="0">
                <a:ea typeface="+mn-lt"/>
                <a:cs typeface="+mn-lt"/>
              </a:rPr>
              <a:t>Motivation for choosing the Topic</a:t>
            </a:r>
          </a:p>
          <a:p>
            <a:r>
              <a:rPr lang="en-US" dirty="0">
                <a:ea typeface="+mn-lt"/>
                <a:cs typeface="+mn-lt"/>
              </a:rPr>
              <a:t>Literature Review</a:t>
            </a:r>
          </a:p>
          <a:p>
            <a:r>
              <a:rPr lang="en-US" dirty="0">
                <a:ea typeface="+mn-lt"/>
                <a:cs typeface="+mn-lt"/>
              </a:rPr>
              <a:t>Student’s opinion/perspective </a:t>
            </a:r>
          </a:p>
          <a:p>
            <a:r>
              <a:rPr lang="en-US" dirty="0">
                <a:ea typeface="+mn-lt"/>
                <a:cs typeface="+mn-lt"/>
              </a:rPr>
              <a:t>Relevance to society </a:t>
            </a:r>
          </a:p>
          <a:p>
            <a:r>
              <a:rPr lang="en-US" dirty="0">
                <a:ea typeface="+mn-lt"/>
                <a:cs typeface="+mn-lt"/>
              </a:rPr>
              <a:t>Conclusions </a:t>
            </a:r>
          </a:p>
          <a:p>
            <a:r>
              <a:rPr lang="en-US" dirty="0">
                <a:ea typeface="+mn-lt"/>
                <a:cs typeface="+mn-lt"/>
              </a:rPr>
              <a:t>References</a:t>
            </a:r>
          </a:p>
          <a:p>
            <a:pPr marL="0" indent="0">
              <a:buNone/>
            </a:pPr>
            <a:endParaRPr lang="en-US" dirty="0">
              <a:cs typeface="Calibri"/>
            </a:endParaRPr>
          </a:p>
        </p:txBody>
      </p:sp>
    </p:spTree>
    <p:extLst>
      <p:ext uri="{BB962C8B-B14F-4D97-AF65-F5344CB8AC3E}">
        <p14:creationId xmlns:p14="http://schemas.microsoft.com/office/powerpoint/2010/main" val="7661212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A70B06-8AAB-405C-91A4-962F301D6596}"/>
              </a:ext>
            </a:extLst>
          </p:cNvPr>
          <p:cNvSpPr>
            <a:spLocks noGrp="1"/>
          </p:cNvSpPr>
          <p:nvPr>
            <p:ph type="title"/>
          </p:nvPr>
        </p:nvSpPr>
        <p:spPr/>
        <p:txBody>
          <a:bodyPr lIns="91440" tIns="45720" rIns="91440" bIns="45720" anchor="ctr"/>
          <a:lstStyle/>
          <a:p>
            <a:r>
              <a:rPr lang="en-US" sz="4000">
                <a:cs typeface="Calibri"/>
              </a:rPr>
              <a:t>Introduction</a:t>
            </a:r>
            <a:endParaRPr lang="en-US" sz="4000"/>
          </a:p>
        </p:txBody>
      </p:sp>
      <p:sp>
        <p:nvSpPr>
          <p:cNvPr id="3" name="Content Placeholder 2">
            <a:extLst>
              <a:ext uri="{FF2B5EF4-FFF2-40B4-BE49-F238E27FC236}">
                <a16:creationId xmlns:a16="http://schemas.microsoft.com/office/drawing/2014/main" id="{768CA375-6DC1-483C-807F-0BDA7D329631}"/>
              </a:ext>
            </a:extLst>
          </p:cNvPr>
          <p:cNvSpPr>
            <a:spLocks noGrp="1"/>
          </p:cNvSpPr>
          <p:nvPr>
            <p:ph idx="1"/>
          </p:nvPr>
        </p:nvSpPr>
        <p:spPr>
          <a:xfrm>
            <a:off x="187569" y="990601"/>
            <a:ext cx="11816862" cy="5476458"/>
          </a:xfrm>
        </p:spPr>
        <p:txBody>
          <a:bodyPr lIns="91440" tIns="45720" rIns="91440" bIns="45720" anchor="t"/>
          <a:lstStyle/>
          <a:p>
            <a:pPr>
              <a:buFont typeface="Arial"/>
              <a:buChar char="•"/>
            </a:pPr>
            <a:r>
              <a:rPr lang="en-IN" sz="2800" i="0" u="none" strike="noStrike" dirty="0">
                <a:solidFill>
                  <a:srgbClr val="000000"/>
                </a:solidFill>
                <a:effectLst/>
                <a:latin typeface="+mn-lt"/>
              </a:rPr>
              <a:t>Urban traffic congestion poses significant challenges in cities worldwide, leading to increased travel times, fuel consumption, and air pollution.</a:t>
            </a:r>
          </a:p>
          <a:p>
            <a:pPr>
              <a:buFont typeface="Arial"/>
              <a:buChar char="•"/>
            </a:pPr>
            <a:r>
              <a:rPr lang="en-IN" sz="2800" i="0" u="none" strike="noStrike" dirty="0">
                <a:solidFill>
                  <a:srgbClr val="000000"/>
                </a:solidFill>
                <a:effectLst/>
                <a:latin typeface="+mn-lt"/>
              </a:rPr>
              <a:t>Congestion hinders efficient transportation, limiting access to essential services and hindering economic growth.</a:t>
            </a:r>
          </a:p>
          <a:p>
            <a:pPr>
              <a:buFont typeface="Arial"/>
              <a:buChar char="•"/>
            </a:pPr>
            <a:r>
              <a:rPr lang="en-IN" sz="2800" i="0" u="none" strike="noStrike" dirty="0">
                <a:solidFill>
                  <a:srgbClr val="000000"/>
                </a:solidFill>
                <a:effectLst/>
                <a:latin typeface="+mn-lt"/>
              </a:rPr>
              <a:t>Heavy traffic congestion can also result in road safety hazards, increasing the risk of accidents and injuries.</a:t>
            </a:r>
          </a:p>
          <a:p>
            <a:pPr>
              <a:buFont typeface="Arial"/>
              <a:buChar char="•"/>
            </a:pPr>
            <a:r>
              <a:rPr lang="en-IN" sz="2800" i="0" u="none" strike="noStrike" dirty="0">
                <a:solidFill>
                  <a:srgbClr val="000000"/>
                </a:solidFill>
                <a:effectLst/>
                <a:latin typeface="+mn-lt"/>
              </a:rPr>
              <a:t>Addressing traffic congestion is crucial for enhancing urban mobility, reducing environmental impact, and improving overall quality of life in cities.</a:t>
            </a:r>
          </a:p>
          <a:p>
            <a:pPr>
              <a:buFont typeface="Arial"/>
              <a:buChar char="•"/>
            </a:pPr>
            <a:r>
              <a:rPr lang="en-IN" sz="2800" i="0" u="none" strike="noStrike" dirty="0">
                <a:solidFill>
                  <a:srgbClr val="000000"/>
                </a:solidFill>
                <a:effectLst/>
                <a:latin typeface="+mn-lt"/>
              </a:rPr>
              <a:t>Accurate prediction of traffic congestion can aid in proactively planning traffic management strategies and optimizing transportation systems.</a:t>
            </a:r>
          </a:p>
          <a:p>
            <a:pPr marL="0" indent="0">
              <a:buNone/>
            </a:pPr>
            <a:endParaRPr lang="en-US" dirty="0">
              <a:ea typeface="+mn-lt"/>
              <a:cs typeface="+mn-lt"/>
            </a:endParaRPr>
          </a:p>
        </p:txBody>
      </p:sp>
    </p:spTree>
    <p:extLst>
      <p:ext uri="{BB962C8B-B14F-4D97-AF65-F5344CB8AC3E}">
        <p14:creationId xmlns:p14="http://schemas.microsoft.com/office/powerpoint/2010/main" val="21904659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3000"/>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E403CF-9678-46E8-87CE-7B9F9F7DA4C2}"/>
              </a:ext>
            </a:extLst>
          </p:cNvPr>
          <p:cNvSpPr>
            <a:spLocks noGrp="1"/>
          </p:cNvSpPr>
          <p:nvPr>
            <p:ph type="title"/>
          </p:nvPr>
        </p:nvSpPr>
        <p:spPr/>
        <p:txBody>
          <a:bodyPr lIns="91440" tIns="45720" rIns="91440" bIns="45720" anchor="ctr"/>
          <a:lstStyle/>
          <a:p>
            <a:r>
              <a:rPr lang="en-US">
                <a:cs typeface="Calibri"/>
              </a:rPr>
              <a:t>Motivation for choosing the Topic</a:t>
            </a:r>
            <a:endParaRPr lang="en-US"/>
          </a:p>
        </p:txBody>
      </p:sp>
      <p:sp>
        <p:nvSpPr>
          <p:cNvPr id="3" name="Content Placeholder 2">
            <a:extLst>
              <a:ext uri="{FF2B5EF4-FFF2-40B4-BE49-F238E27FC236}">
                <a16:creationId xmlns:a16="http://schemas.microsoft.com/office/drawing/2014/main" id="{E44681D6-7989-4610-89AF-A193AE50BD26}"/>
              </a:ext>
            </a:extLst>
          </p:cNvPr>
          <p:cNvSpPr>
            <a:spLocks noGrp="1"/>
          </p:cNvSpPr>
          <p:nvPr>
            <p:ph idx="1"/>
          </p:nvPr>
        </p:nvSpPr>
        <p:spPr/>
        <p:txBody>
          <a:bodyPr lIns="91440" tIns="45720" rIns="91440" bIns="45720" anchor="t"/>
          <a:lstStyle/>
          <a:p>
            <a:pPr marL="0" indent="0">
              <a:buNone/>
            </a:pPr>
            <a:endParaRPr lang="en-IN" sz="2800" b="0" i="0" dirty="0">
              <a:solidFill>
                <a:srgbClr val="374151"/>
              </a:solidFill>
              <a:effectLst/>
              <a:latin typeface="Söhne"/>
            </a:endParaRPr>
          </a:p>
          <a:p>
            <a:pPr marL="0" indent="0">
              <a:buNone/>
            </a:pPr>
            <a:endParaRPr lang="en-IN" sz="2800" dirty="0">
              <a:solidFill>
                <a:srgbClr val="374151"/>
              </a:solidFill>
              <a:latin typeface="Söhne"/>
            </a:endParaRPr>
          </a:p>
          <a:p>
            <a:pPr marL="0" indent="0">
              <a:buNone/>
            </a:pPr>
            <a:r>
              <a:rPr lang="en-IN" sz="2800" b="0" i="0" dirty="0">
                <a:solidFill>
                  <a:srgbClr val="374151"/>
                </a:solidFill>
                <a:effectLst/>
                <a:latin typeface="Söhne"/>
              </a:rPr>
              <a:t>The motivation behind selecting this topic is to leverage the potential of interpretable machine learning to not only enhance our understanding of traffic patterns but also to empower urban planners, policymakers, and commuters with reliable tools to alleviate congestion, reduce travel times, and create more efficient, sustainable, and liveable urban environments. This research seeks to bridge the gap between complex data and meaningful insights, ultimately contributing to smarter, more adaptive, and less congested cities.</a:t>
            </a:r>
            <a:endParaRPr lang="en-US" sz="2800" dirty="0">
              <a:cs typeface="Calibri"/>
            </a:endParaRPr>
          </a:p>
        </p:txBody>
      </p:sp>
    </p:spTree>
    <p:extLst>
      <p:ext uri="{BB962C8B-B14F-4D97-AF65-F5344CB8AC3E}">
        <p14:creationId xmlns:p14="http://schemas.microsoft.com/office/powerpoint/2010/main" val="16633410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199744-A025-4620-AFE6-5D5E7710A43B}"/>
              </a:ext>
            </a:extLst>
          </p:cNvPr>
          <p:cNvSpPr>
            <a:spLocks noGrp="1"/>
          </p:cNvSpPr>
          <p:nvPr>
            <p:ph type="title"/>
          </p:nvPr>
        </p:nvSpPr>
        <p:spPr>
          <a:xfrm>
            <a:off x="187569" y="352926"/>
            <a:ext cx="11816862" cy="639762"/>
          </a:xfrm>
        </p:spPr>
        <p:txBody>
          <a:bodyPr lIns="91440" tIns="45720" rIns="91440" bIns="45720" anchor="ctr"/>
          <a:lstStyle/>
          <a:p>
            <a:r>
              <a:rPr lang="en-US" dirty="0">
                <a:ea typeface="+mn-lt"/>
                <a:cs typeface="+mn-lt"/>
              </a:rPr>
              <a:t>Literature Review</a:t>
            </a:r>
            <a:br>
              <a:rPr lang="en-US" dirty="0">
                <a:ea typeface="+mn-lt"/>
                <a:cs typeface="+mn-lt"/>
              </a:rPr>
            </a:br>
            <a:endParaRPr lang="en-US" dirty="0">
              <a:cs typeface="Calibri"/>
            </a:endParaRPr>
          </a:p>
        </p:txBody>
      </p:sp>
      <p:sp>
        <p:nvSpPr>
          <p:cNvPr id="3" name="Content Placeholder 2">
            <a:extLst>
              <a:ext uri="{FF2B5EF4-FFF2-40B4-BE49-F238E27FC236}">
                <a16:creationId xmlns:a16="http://schemas.microsoft.com/office/drawing/2014/main" id="{13EF9293-1262-401A-A357-0F4A46728116}"/>
              </a:ext>
            </a:extLst>
          </p:cNvPr>
          <p:cNvSpPr>
            <a:spLocks noGrp="1"/>
          </p:cNvSpPr>
          <p:nvPr>
            <p:ph idx="1"/>
          </p:nvPr>
        </p:nvSpPr>
        <p:spPr/>
        <p:txBody>
          <a:bodyPr lIns="91440" tIns="45720" rIns="91440" bIns="45720" anchor="t"/>
          <a:lstStyle/>
          <a:p>
            <a:pPr marL="0" indent="0" algn="just">
              <a:lnSpc>
                <a:spcPct val="150000"/>
              </a:lnSpc>
              <a:buNone/>
            </a:pPr>
            <a:r>
              <a:rPr lang="en-GB" sz="1100" dirty="0">
                <a:effectLst/>
                <a:latin typeface="Times New Roman" panose="02020603050405020304" pitchFamily="18" charset="0"/>
                <a:ea typeface="Times New Roman" panose="02020603050405020304" pitchFamily="18" charset="0"/>
              </a:rPr>
              <a:t>[1] </a:t>
            </a:r>
            <a:r>
              <a:rPr lang="en-GB" sz="1100" dirty="0" err="1">
                <a:effectLst/>
                <a:latin typeface="Times New Roman" panose="02020603050405020304" pitchFamily="18" charset="0"/>
                <a:ea typeface="Times New Roman" panose="02020603050405020304" pitchFamily="18" charset="0"/>
              </a:rPr>
              <a:t>Xiaoming</a:t>
            </a:r>
            <a:r>
              <a:rPr lang="en-GB" sz="1100" dirty="0">
                <a:effectLst/>
                <a:latin typeface="Times New Roman" panose="02020603050405020304" pitchFamily="18" charset="0"/>
                <a:ea typeface="Times New Roman" panose="02020603050405020304" pitchFamily="18" charset="0"/>
              </a:rPr>
              <a:t> Yuan proposes a Federated Deep Learning based on the Spatial-Temporal Long and Short-Term Networks (</a:t>
            </a:r>
            <a:r>
              <a:rPr lang="en-GB" sz="1100" dirty="0" err="1">
                <a:effectLst/>
                <a:latin typeface="Times New Roman" panose="02020603050405020304" pitchFamily="18" charset="0"/>
                <a:ea typeface="Times New Roman" panose="02020603050405020304" pitchFamily="18" charset="0"/>
              </a:rPr>
              <a:t>FedSTN</a:t>
            </a:r>
            <a:r>
              <a:rPr lang="en-GB" sz="1100" dirty="0">
                <a:effectLst/>
                <a:latin typeface="Times New Roman" panose="02020603050405020304" pitchFamily="18" charset="0"/>
                <a:ea typeface="Times New Roman" panose="02020603050405020304" pitchFamily="18" charset="0"/>
              </a:rPr>
              <a:t>) algorithm for Traffic Flow Prediction (TFP) in smart cities. The model uses observed historical traffic data and consists of three components: Recurrent Long-term Capture Network (RLCN), Attentive Mechanism Federated Network (AMFN), and Semantic Capture Network (SCN). The algorithm captures long-term spatial-temporal information, shares short-term hidden information, and captures semantic features. Simulations on practical data sets demonstrate its effectiveness.</a:t>
            </a:r>
            <a:endParaRPr lang="en-IN" sz="1100" dirty="0">
              <a:effectLst/>
              <a:latin typeface="Times New Roman" panose="02020603050405020304" pitchFamily="18" charset="0"/>
              <a:ea typeface="Times New Roman" panose="02020603050405020304" pitchFamily="18" charset="0"/>
            </a:endParaRPr>
          </a:p>
          <a:p>
            <a:pPr marL="0" indent="0" algn="just">
              <a:lnSpc>
                <a:spcPct val="150000"/>
              </a:lnSpc>
              <a:buNone/>
            </a:pPr>
            <a:endParaRPr lang="en-GB" sz="1100" dirty="0">
              <a:effectLst/>
              <a:latin typeface="Times New Roman" panose="02020603050405020304" pitchFamily="18" charset="0"/>
              <a:ea typeface="Times New Roman" panose="02020603050405020304" pitchFamily="18" charset="0"/>
            </a:endParaRPr>
          </a:p>
          <a:p>
            <a:pPr marL="0" indent="0" algn="just">
              <a:lnSpc>
                <a:spcPct val="150000"/>
              </a:lnSpc>
              <a:buNone/>
            </a:pPr>
            <a:r>
              <a:rPr lang="en-GB" sz="1100" dirty="0">
                <a:effectLst/>
                <a:latin typeface="Times New Roman" panose="02020603050405020304" pitchFamily="18" charset="0"/>
                <a:ea typeface="Times New Roman" panose="02020603050405020304" pitchFamily="18" charset="0"/>
              </a:rPr>
              <a:t>[2] The growth of urban populations in Latin America has led to increased traffic problems, including air pollution, fuel consumption, and traffic rule violations. Intelligent transport systems, incorporating internet of things and algorithms, can improve traffic efficiency. This review study focuses on smart techniques for analysing mobility data for urban traffic flow prediction.</a:t>
            </a:r>
            <a:endParaRPr lang="en-IN" sz="1100" dirty="0">
              <a:latin typeface="Times New Roman" panose="02020603050405020304" pitchFamily="18" charset="0"/>
              <a:ea typeface="Times New Roman" panose="02020603050405020304" pitchFamily="18" charset="0"/>
            </a:endParaRPr>
          </a:p>
          <a:p>
            <a:pPr marL="0" indent="0" algn="just">
              <a:lnSpc>
                <a:spcPct val="150000"/>
              </a:lnSpc>
              <a:buNone/>
            </a:pPr>
            <a:endParaRPr lang="en-IN" sz="1100" dirty="0">
              <a:effectLst/>
              <a:latin typeface="Times New Roman" panose="02020603050405020304" pitchFamily="18" charset="0"/>
              <a:ea typeface="Times New Roman" panose="02020603050405020304" pitchFamily="18" charset="0"/>
            </a:endParaRPr>
          </a:p>
          <a:p>
            <a:pPr marL="0" indent="0" algn="just">
              <a:lnSpc>
                <a:spcPct val="150000"/>
              </a:lnSpc>
              <a:buNone/>
            </a:pPr>
            <a:r>
              <a:rPr lang="en-GB" sz="1100" dirty="0">
                <a:effectLst/>
                <a:latin typeface="Times New Roman" panose="02020603050405020304" pitchFamily="18" charset="0"/>
                <a:ea typeface="Times New Roman" panose="02020603050405020304" pitchFamily="18" charset="0"/>
              </a:rPr>
              <a:t>[3] Yi Zhang establishes a prediction model of traffic flow, where three cycle dependent components are used to model three characteristics of traffic data, respectively. CNN is used to extract spatial features, and the combination of LSTM and attention mechanism is used to dynamically capture the influence of historical period on target period. Finally, the results are obtained by weighted integration of each component. Its prediction result is more accurate, which can provide reference for governance of urban transportation industry under the background of big data.</a:t>
            </a:r>
            <a:endParaRPr lang="en-IN" sz="1100" dirty="0">
              <a:latin typeface="Times New Roman" panose="02020603050405020304" pitchFamily="18" charset="0"/>
              <a:ea typeface="Times New Roman" panose="02020603050405020304" pitchFamily="18" charset="0"/>
            </a:endParaRPr>
          </a:p>
          <a:p>
            <a:pPr marL="0" indent="0" algn="just">
              <a:lnSpc>
                <a:spcPct val="150000"/>
              </a:lnSpc>
              <a:buNone/>
            </a:pPr>
            <a:endParaRPr lang="en-IN" sz="1100" dirty="0">
              <a:effectLst/>
              <a:latin typeface="Times New Roman" panose="02020603050405020304" pitchFamily="18" charset="0"/>
              <a:ea typeface="Times New Roman" panose="02020603050405020304" pitchFamily="18" charset="0"/>
            </a:endParaRPr>
          </a:p>
          <a:p>
            <a:pPr marL="0" indent="0" algn="just">
              <a:lnSpc>
                <a:spcPct val="150000"/>
              </a:lnSpc>
              <a:buNone/>
            </a:pPr>
            <a:r>
              <a:rPr lang="en-GB" sz="1100" dirty="0">
                <a:effectLst/>
                <a:latin typeface="Times New Roman" panose="02020603050405020304" pitchFamily="18" charset="0"/>
                <a:ea typeface="Times New Roman" panose="02020603050405020304" pitchFamily="18" charset="0"/>
              </a:rPr>
              <a:t>[4] This study explores the use of Artificial Intelligence (AI) Deep Learning in smart city scenarios. It develops a traffic flow prediction model using the Deep Belief Network (DBN) algorithm, pre-processing historical traffic flow data in Tianjin. The model is trained using Restricted Boltzmann Machines (RBM) and compared to Neuro Fuzzy C-Means (FCM), Deep Learning Architecture (DLA), and Convolutional Neural Network (CNN) models. The results show a higher prediction accuracy of 4.42%, 6.21%, and 8.03%, and can effectively suppress congestion in smart cities. This model provides experimental references for future smart city construction.</a:t>
            </a:r>
            <a:endParaRPr lang="en-IN" sz="1100" dirty="0">
              <a:effectLst/>
              <a:latin typeface="Times New Roman" panose="02020603050405020304" pitchFamily="18" charset="0"/>
              <a:ea typeface="Times New Roman" panose="02020603050405020304" pitchFamily="18" charset="0"/>
            </a:endParaRPr>
          </a:p>
          <a:p>
            <a:pPr marL="0" indent="0" algn="just">
              <a:lnSpc>
                <a:spcPct val="150000"/>
              </a:lnSpc>
              <a:buNone/>
            </a:pPr>
            <a:r>
              <a:rPr lang="en-GB" sz="1100" dirty="0">
                <a:effectLst/>
                <a:latin typeface="Times New Roman" panose="02020603050405020304" pitchFamily="18" charset="0"/>
                <a:ea typeface="Times New Roman" panose="02020603050405020304" pitchFamily="18" charset="0"/>
              </a:rPr>
              <a:t> </a:t>
            </a:r>
          </a:p>
          <a:p>
            <a:pPr marL="0" indent="0">
              <a:lnSpc>
                <a:spcPct val="150000"/>
              </a:lnSpc>
              <a:buNone/>
            </a:pPr>
            <a:r>
              <a:rPr lang="en-GB" sz="1100" dirty="0">
                <a:effectLst/>
                <a:latin typeface="Times New Roman" panose="02020603050405020304" pitchFamily="18" charset="0"/>
                <a:ea typeface="Times New Roman" panose="02020603050405020304" pitchFamily="18" charset="0"/>
              </a:rPr>
              <a:t>[5] Smart cities focus on reducing traffic congestion, with Intelligent Transportation Systems (ITS) being key challenges. Vehicular Networks (VNs) are developing innovative ideas to address this issue. A fusion-based intelligent traffic congestion control system (FITCCS-VN) using machine learning techniques is proposed to collect traffic data and route routes in smart cities. The system improves traffic flow and decreases congestion, with an accuracy rate of 95% and a miss rate of 5%.</a:t>
            </a:r>
            <a:endParaRPr lang="en-IN" sz="1100" dirty="0">
              <a:effectLst/>
              <a:latin typeface="Times New Roman" panose="02020603050405020304" pitchFamily="18" charset="0"/>
              <a:ea typeface="Times New Roman" panose="02020603050405020304" pitchFamily="18" charset="0"/>
            </a:endParaRPr>
          </a:p>
          <a:p>
            <a:pPr marL="0" indent="0" algn="just">
              <a:lnSpc>
                <a:spcPct val="150000"/>
              </a:lnSpc>
              <a:buNone/>
            </a:pPr>
            <a:endParaRPr lang="en-IN" sz="1100" dirty="0">
              <a:effectLst/>
              <a:latin typeface="Times New Roman" panose="02020603050405020304" pitchFamily="18" charset="0"/>
              <a:ea typeface="Times New Roman" panose="02020603050405020304" pitchFamily="18" charset="0"/>
            </a:endParaRPr>
          </a:p>
          <a:p>
            <a:pPr marL="0" indent="0">
              <a:buNone/>
            </a:pPr>
            <a:endParaRPr lang="en-US" dirty="0">
              <a:cs typeface="Calibri"/>
            </a:endParaRPr>
          </a:p>
        </p:txBody>
      </p:sp>
    </p:spTree>
    <p:extLst>
      <p:ext uri="{BB962C8B-B14F-4D97-AF65-F5344CB8AC3E}">
        <p14:creationId xmlns:p14="http://schemas.microsoft.com/office/powerpoint/2010/main" val="42361779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575E60-FCDA-402C-9763-0FE789135D22}"/>
              </a:ext>
            </a:extLst>
          </p:cNvPr>
          <p:cNvSpPr>
            <a:spLocks noGrp="1"/>
          </p:cNvSpPr>
          <p:nvPr>
            <p:ph type="title"/>
          </p:nvPr>
        </p:nvSpPr>
        <p:spPr/>
        <p:txBody>
          <a:bodyPr lIns="91440" tIns="45720" rIns="91440" bIns="45720" anchor="ctr"/>
          <a:lstStyle/>
          <a:p>
            <a:r>
              <a:rPr lang="en-US" dirty="0">
                <a:ea typeface="+mn-lt"/>
                <a:cs typeface="+mn-lt"/>
              </a:rPr>
              <a:t>Literature Review</a:t>
            </a:r>
            <a:endParaRPr lang="en-US" dirty="0">
              <a:cs typeface="Calibri"/>
            </a:endParaRPr>
          </a:p>
        </p:txBody>
      </p:sp>
      <p:sp>
        <p:nvSpPr>
          <p:cNvPr id="3" name="Content Placeholder 2"/>
          <p:cNvSpPr>
            <a:spLocks noGrp="1"/>
          </p:cNvSpPr>
          <p:nvPr>
            <p:ph idx="1"/>
          </p:nvPr>
        </p:nvSpPr>
        <p:spPr>
          <a:xfrm>
            <a:off x="187569" y="990600"/>
            <a:ext cx="11816862" cy="5446775"/>
          </a:xfrm>
        </p:spPr>
        <p:txBody>
          <a:bodyPr/>
          <a:lstStyle/>
          <a:p>
            <a:pPr marL="0" indent="0" algn="just">
              <a:lnSpc>
                <a:spcPct val="150000"/>
              </a:lnSpc>
              <a:buNone/>
            </a:pPr>
            <a:r>
              <a:rPr lang="en-GB" sz="1100" dirty="0">
                <a:effectLst/>
                <a:latin typeface="Times New Roman" panose="02020603050405020304" pitchFamily="18" charset="0"/>
                <a:ea typeface="Times New Roman" panose="02020603050405020304" pitchFamily="18" charset="0"/>
              </a:rPr>
              <a:t>[6] The study by </a:t>
            </a:r>
            <a:r>
              <a:rPr lang="en-GB" sz="1100" dirty="0" err="1">
                <a:effectLst/>
                <a:latin typeface="Times New Roman" panose="02020603050405020304" pitchFamily="18" charset="0"/>
                <a:ea typeface="Times New Roman" panose="02020603050405020304" pitchFamily="18" charset="0"/>
              </a:rPr>
              <a:t>Yuanbo</a:t>
            </a:r>
            <a:r>
              <a:rPr lang="en-GB" sz="1100" dirty="0">
                <a:effectLst/>
                <a:latin typeface="Times New Roman" panose="02020603050405020304" pitchFamily="18" charset="0"/>
                <a:ea typeface="Times New Roman" panose="02020603050405020304" pitchFamily="18" charset="0"/>
              </a:rPr>
              <a:t> Xu proposes a novel deep learning framework, Dynamic Traffic Correlation-based </a:t>
            </a:r>
            <a:r>
              <a:rPr lang="en-GB" sz="1100" dirty="0" err="1">
                <a:effectLst/>
                <a:latin typeface="Times New Roman" panose="02020603050405020304" pitchFamily="18" charset="0"/>
                <a:ea typeface="Times New Roman" panose="02020603050405020304" pitchFamily="18" charset="0"/>
              </a:rPr>
              <a:t>Spatio</a:t>
            </a:r>
            <a:r>
              <a:rPr lang="en-GB" sz="1100" dirty="0">
                <a:effectLst/>
                <a:latin typeface="Times New Roman" panose="02020603050405020304" pitchFamily="18" charset="0"/>
                <a:ea typeface="Times New Roman" panose="02020603050405020304" pitchFamily="18" charset="0"/>
              </a:rPr>
              <a:t>-Temporal Graph Convolutional network (DTC-STGCN), to accurately forecast traffic flow and speed in Intelligent Transportation Systems (ITS). The framework extracts a dynamic adjacency matrix from traffic data, captures dynamic spatial features using an attention and dynamic adjacency matrix-based GCNs framework, and uses a long-short-term memory network (LSTM) for temporal features. The model consistently outperforms state-of-the-art traffic prediction baselines on MAE and RMSE, achieving stable performance for long-term traffic prediction and peak time prediction.</a:t>
            </a:r>
            <a:endParaRPr lang="en-IN" sz="1100" dirty="0">
              <a:effectLst/>
              <a:latin typeface="Times New Roman" panose="02020603050405020304" pitchFamily="18" charset="0"/>
              <a:ea typeface="Times New Roman" panose="02020603050405020304" pitchFamily="18" charset="0"/>
            </a:endParaRPr>
          </a:p>
          <a:p>
            <a:pPr marL="0" indent="0" algn="just">
              <a:lnSpc>
                <a:spcPct val="150000"/>
              </a:lnSpc>
              <a:buNone/>
            </a:pPr>
            <a:endParaRPr lang="en-GB" sz="1100" dirty="0">
              <a:latin typeface="Times New Roman" panose="02020603050405020304" pitchFamily="18" charset="0"/>
              <a:ea typeface="Times New Roman" panose="02020603050405020304" pitchFamily="18" charset="0"/>
            </a:endParaRPr>
          </a:p>
          <a:p>
            <a:pPr marL="0" indent="0" algn="just">
              <a:lnSpc>
                <a:spcPct val="150000"/>
              </a:lnSpc>
              <a:buNone/>
            </a:pPr>
            <a:r>
              <a:rPr lang="en-GB" sz="1100" dirty="0">
                <a:effectLst/>
                <a:latin typeface="Times New Roman" panose="02020603050405020304" pitchFamily="18" charset="0"/>
                <a:ea typeface="Times New Roman" panose="02020603050405020304" pitchFamily="18" charset="0"/>
              </a:rPr>
              <a:t>[7] Traffic congestion is a significant issue in urban areas, with vehicles increasing despite slow infrastructure development. Researchers propose Traffic Management Systems that use traffic data and emerging technologies to maximize traffic flow, fluidify intersections, and reroute vehicles to avoid congestion areas. However, there is a lack of research covering the entire urban road traffic management system. This study reviews current approaches, summarizes benefits and drawbacks, analyses three main subsystems, and discusses future research directions and open issues for a realistic and efficient Traffic Management System.</a:t>
            </a:r>
            <a:endParaRPr lang="en-IN" sz="1100" dirty="0">
              <a:effectLst/>
              <a:latin typeface="Times New Roman" panose="02020603050405020304" pitchFamily="18" charset="0"/>
              <a:ea typeface="Times New Roman" panose="02020603050405020304" pitchFamily="18" charset="0"/>
            </a:endParaRPr>
          </a:p>
          <a:p>
            <a:pPr marL="0" indent="0" algn="just">
              <a:lnSpc>
                <a:spcPct val="150000"/>
              </a:lnSpc>
              <a:buNone/>
            </a:pPr>
            <a:endParaRPr lang="en-GB" sz="1100" dirty="0">
              <a:latin typeface="Times New Roman" panose="02020603050405020304" pitchFamily="18" charset="0"/>
              <a:ea typeface="Times New Roman" panose="02020603050405020304" pitchFamily="18" charset="0"/>
            </a:endParaRPr>
          </a:p>
          <a:p>
            <a:pPr marL="0" indent="0" algn="just">
              <a:lnSpc>
                <a:spcPct val="150000"/>
              </a:lnSpc>
              <a:buNone/>
            </a:pPr>
            <a:r>
              <a:rPr lang="en-GB" sz="1100" dirty="0">
                <a:effectLst/>
                <a:latin typeface="Times New Roman" panose="02020603050405020304" pitchFamily="18" charset="0"/>
                <a:ea typeface="Times New Roman" panose="02020603050405020304" pitchFamily="18" charset="0"/>
              </a:rPr>
              <a:t>[8] The study by Roy C. Park  proposes an accident prediction model using deep learning to predict risk based on static and dynamic road features. The model, tested on 4470 accident cases in Seoul, has an accuracy of 75% and recall of 81%. The system guides accident-prone regions and a risk level for the road, which can change based on each situation. This can be used to improve roads with safety features and support a mobile system for optimized driving paths.</a:t>
            </a:r>
          </a:p>
          <a:p>
            <a:pPr marL="0" indent="0" algn="just">
              <a:lnSpc>
                <a:spcPct val="150000"/>
              </a:lnSpc>
              <a:buNone/>
            </a:pPr>
            <a:endParaRPr lang="en-IN" sz="1100" dirty="0">
              <a:effectLst/>
              <a:latin typeface="Times New Roman" panose="02020603050405020304" pitchFamily="18" charset="0"/>
              <a:ea typeface="Times New Roman" panose="02020603050405020304" pitchFamily="18" charset="0"/>
            </a:endParaRPr>
          </a:p>
          <a:p>
            <a:pPr marL="0" indent="0">
              <a:buNone/>
            </a:pPr>
            <a:r>
              <a:rPr lang="en-GB" sz="1100" dirty="0">
                <a:effectLst/>
                <a:latin typeface="Times New Roman" panose="02020603050405020304" pitchFamily="18" charset="0"/>
                <a:ea typeface="Times New Roman" panose="02020603050405020304" pitchFamily="18" charset="0"/>
              </a:rPr>
              <a:t>[9] This paper presents a deep learning-based approach for accurate traffic forecasting in cities, addressing the issue of congestion due to increasing vehicle usage. The approach considers spatial and temporal dependencies, using real-world traffic data from loop detector sensors in Los Angeles and Bay Area.</a:t>
            </a:r>
            <a:endParaRPr lang="en-IN" sz="1100" dirty="0">
              <a:effectLst/>
              <a:latin typeface="Times New Roman" panose="02020603050405020304" pitchFamily="18" charset="0"/>
              <a:ea typeface="Times New Roman" panose="02020603050405020304" pitchFamily="18" charset="0"/>
            </a:endParaRPr>
          </a:p>
          <a:p>
            <a:pPr marL="0" indent="0">
              <a:buNone/>
            </a:pPr>
            <a:endParaRPr lang="en-IN" dirty="0"/>
          </a:p>
        </p:txBody>
      </p:sp>
    </p:spTree>
    <p:extLst>
      <p:ext uri="{BB962C8B-B14F-4D97-AF65-F5344CB8AC3E}">
        <p14:creationId xmlns:p14="http://schemas.microsoft.com/office/powerpoint/2010/main" val="6040441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9D4E8A-608F-466E-B7AB-53B153F619C2}"/>
              </a:ext>
            </a:extLst>
          </p:cNvPr>
          <p:cNvSpPr>
            <a:spLocks noGrp="1"/>
          </p:cNvSpPr>
          <p:nvPr>
            <p:ph type="title"/>
          </p:nvPr>
        </p:nvSpPr>
        <p:spPr/>
        <p:txBody>
          <a:bodyPr lIns="91440" tIns="45720" rIns="91440" bIns="45720" anchor="ctr"/>
          <a:lstStyle/>
          <a:p>
            <a:r>
              <a:rPr lang="en-US" dirty="0">
                <a:cs typeface="Calibri"/>
              </a:rPr>
              <a:t>Student’s opinion/perspective </a:t>
            </a:r>
            <a:endParaRPr lang="en-US" dirty="0"/>
          </a:p>
        </p:txBody>
      </p:sp>
      <p:sp>
        <p:nvSpPr>
          <p:cNvPr id="3" name="Content Placeholder 2">
            <a:extLst>
              <a:ext uri="{FF2B5EF4-FFF2-40B4-BE49-F238E27FC236}">
                <a16:creationId xmlns:a16="http://schemas.microsoft.com/office/drawing/2014/main" id="{127DC3A6-BDA6-4111-870C-2EBEB222B8DC}"/>
              </a:ext>
            </a:extLst>
          </p:cNvPr>
          <p:cNvSpPr>
            <a:spLocks noGrp="1"/>
          </p:cNvSpPr>
          <p:nvPr>
            <p:ph idx="1"/>
          </p:nvPr>
        </p:nvSpPr>
        <p:spPr>
          <a:xfrm>
            <a:off x="187569" y="990600"/>
            <a:ext cx="11816862" cy="5534025"/>
          </a:xfrm>
        </p:spPr>
        <p:txBody>
          <a:bodyPr lIns="91440" tIns="45720" rIns="91440" bIns="45720" anchor="t"/>
          <a:lstStyle/>
          <a:p>
            <a:r>
              <a:rPr lang="en-IN" sz="2400" b="1" i="0" dirty="0">
                <a:effectLst/>
                <a:latin typeface="Söhne"/>
              </a:rPr>
              <a:t>The Significance of the Problem</a:t>
            </a:r>
            <a:r>
              <a:rPr lang="en-IN" sz="2400" b="0" i="0" dirty="0">
                <a:solidFill>
                  <a:srgbClr val="374151"/>
                </a:solidFill>
                <a:effectLst/>
                <a:latin typeface="Söhne"/>
              </a:rPr>
              <a:t>: </a:t>
            </a:r>
            <a:r>
              <a:rPr lang="en-IN" sz="2400" b="0" i="0" dirty="0">
                <a:solidFill>
                  <a:srgbClr val="374151"/>
                </a:solidFill>
                <a:effectLst/>
              </a:rPr>
              <a:t>Urban traffic congestion is not just an inconvenience; it's a critical issue affecting our cities' sustainability, environment, and overall well-being. </a:t>
            </a:r>
          </a:p>
          <a:p>
            <a:r>
              <a:rPr lang="en-IN" sz="2400" b="1" i="0" dirty="0">
                <a:effectLst/>
                <a:latin typeface="Söhne"/>
              </a:rPr>
              <a:t>Need for Interpretability</a:t>
            </a:r>
            <a:r>
              <a:rPr lang="en-IN" sz="2400" b="0" i="0" dirty="0">
                <a:solidFill>
                  <a:srgbClr val="374151"/>
                </a:solidFill>
                <a:effectLst/>
                <a:latin typeface="Söhne"/>
              </a:rPr>
              <a:t>: </a:t>
            </a:r>
            <a:r>
              <a:rPr lang="en-IN" sz="2400" b="0" i="0" dirty="0">
                <a:solidFill>
                  <a:srgbClr val="374151"/>
                </a:solidFill>
                <a:effectLst/>
              </a:rPr>
              <a:t>Interpretable machine learning is essential. We need models that we can understand and trust, especially when it comes to critical urban planning decisions.</a:t>
            </a:r>
          </a:p>
          <a:p>
            <a:r>
              <a:rPr lang="en-IN" sz="2400" b="1" i="0" dirty="0">
                <a:effectLst/>
                <a:latin typeface="Söhne"/>
              </a:rPr>
              <a:t>Potential for Multidisciplinary Solutions</a:t>
            </a:r>
            <a:r>
              <a:rPr lang="en-IN" sz="2400" b="0" i="0" dirty="0">
                <a:solidFill>
                  <a:srgbClr val="374151"/>
                </a:solidFill>
                <a:effectLst/>
                <a:latin typeface="Söhne"/>
              </a:rPr>
              <a:t>: </a:t>
            </a:r>
            <a:r>
              <a:rPr lang="en-IN" sz="2400" b="0" i="0" dirty="0">
                <a:solidFill>
                  <a:srgbClr val="374151"/>
                </a:solidFill>
                <a:effectLst/>
              </a:rPr>
              <a:t>Solving traffic congestion is a multidisciplinary challenge. Collaboration across fields such as data science, transportation engineering and more is key to success.</a:t>
            </a:r>
          </a:p>
          <a:p>
            <a:pPr algn="l"/>
            <a:r>
              <a:rPr lang="en-IN" sz="2400" b="1" i="0" dirty="0">
                <a:solidFill>
                  <a:srgbClr val="374151"/>
                </a:solidFill>
                <a:effectLst/>
              </a:rPr>
              <a:t>Challenges and Ethical Considerations</a:t>
            </a:r>
            <a:r>
              <a:rPr lang="en-IN" sz="2400" b="0" i="0" dirty="0">
                <a:solidFill>
                  <a:srgbClr val="374151"/>
                </a:solidFill>
                <a:effectLst/>
              </a:rPr>
              <a:t>: Addressing challenges like data privacy and model biases must be done responsibly as we advance in this field.</a:t>
            </a:r>
          </a:p>
          <a:p>
            <a:pPr algn="l"/>
            <a:r>
              <a:rPr lang="en-IN" sz="2400" b="1" i="0" dirty="0">
                <a:solidFill>
                  <a:srgbClr val="374151"/>
                </a:solidFill>
                <a:effectLst/>
              </a:rPr>
              <a:t>Real-World Impact</a:t>
            </a:r>
            <a:r>
              <a:rPr lang="en-IN" sz="2400" b="0" i="0" dirty="0">
                <a:solidFill>
                  <a:srgbClr val="374151"/>
                </a:solidFill>
                <a:effectLst/>
              </a:rPr>
              <a:t>: We firmly believe that the outcomes of this research can translate into real-world improvements in our daily commutes and city planning.</a:t>
            </a:r>
          </a:p>
          <a:p>
            <a:pPr algn="l"/>
            <a:r>
              <a:rPr lang="en-IN" sz="2400" b="1" i="0" dirty="0">
                <a:solidFill>
                  <a:srgbClr val="374151"/>
                </a:solidFill>
                <a:effectLst/>
              </a:rPr>
              <a:t>Continuous Learning</a:t>
            </a:r>
            <a:r>
              <a:rPr lang="en-IN" sz="2400" b="0" i="0" dirty="0">
                <a:solidFill>
                  <a:srgbClr val="374151"/>
                </a:solidFill>
                <a:effectLst/>
              </a:rPr>
              <a:t>: As students, </a:t>
            </a:r>
            <a:r>
              <a:rPr lang="en-IN" sz="2400" dirty="0">
                <a:solidFill>
                  <a:srgbClr val="374151"/>
                </a:solidFill>
              </a:rPr>
              <a:t>We are </a:t>
            </a:r>
            <a:r>
              <a:rPr lang="en-IN" sz="2400" b="0" i="0" dirty="0">
                <a:solidFill>
                  <a:srgbClr val="374151"/>
                </a:solidFill>
                <a:effectLst/>
              </a:rPr>
              <a:t>committed to ongoing learning and exploring   new technologies to enhance traffic congestion prediction."</a:t>
            </a:r>
          </a:p>
          <a:p>
            <a:pPr algn="l"/>
            <a:endParaRPr lang="en-IN" sz="2400" b="0" i="0" dirty="0">
              <a:solidFill>
                <a:srgbClr val="374151"/>
              </a:solidFill>
              <a:effectLst/>
            </a:endParaRPr>
          </a:p>
          <a:p>
            <a:pPr algn="l"/>
            <a:endParaRPr lang="en-IN" sz="2400" b="0" i="0" dirty="0">
              <a:solidFill>
                <a:srgbClr val="374151"/>
              </a:solidFill>
              <a:effectLst/>
            </a:endParaRPr>
          </a:p>
          <a:p>
            <a:endParaRPr lang="en-IN" sz="2400" b="0" i="0" dirty="0">
              <a:solidFill>
                <a:srgbClr val="374151"/>
              </a:solidFill>
              <a:effectLst/>
            </a:endParaRPr>
          </a:p>
          <a:p>
            <a:endParaRPr lang="en-IN" sz="2400" dirty="0">
              <a:solidFill>
                <a:srgbClr val="374151"/>
              </a:solidFill>
              <a:latin typeface="Söhne"/>
            </a:endParaRPr>
          </a:p>
          <a:p>
            <a:endParaRPr lang="en-IN" sz="4000" dirty="0">
              <a:cs typeface="Calibri"/>
            </a:endParaRPr>
          </a:p>
        </p:txBody>
      </p:sp>
    </p:spTree>
    <p:extLst>
      <p:ext uri="{BB962C8B-B14F-4D97-AF65-F5344CB8AC3E}">
        <p14:creationId xmlns:p14="http://schemas.microsoft.com/office/powerpoint/2010/main" val="17750243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A17D3B-6AA9-4AC3-BA51-0D294F29DB71}"/>
              </a:ext>
            </a:extLst>
          </p:cNvPr>
          <p:cNvSpPr>
            <a:spLocks noGrp="1"/>
          </p:cNvSpPr>
          <p:nvPr>
            <p:ph type="title"/>
          </p:nvPr>
        </p:nvSpPr>
        <p:spPr/>
        <p:txBody>
          <a:bodyPr lIns="91440" tIns="45720" rIns="91440" bIns="45720" anchor="ctr"/>
          <a:lstStyle/>
          <a:p>
            <a:r>
              <a:rPr lang="en-US" dirty="0">
                <a:cs typeface="Calibri"/>
              </a:rPr>
              <a:t>Relevance to society </a:t>
            </a:r>
          </a:p>
        </p:txBody>
      </p:sp>
      <p:sp>
        <p:nvSpPr>
          <p:cNvPr id="3" name="Content Placeholder 2">
            <a:extLst>
              <a:ext uri="{FF2B5EF4-FFF2-40B4-BE49-F238E27FC236}">
                <a16:creationId xmlns:a16="http://schemas.microsoft.com/office/drawing/2014/main" id="{F6DAF928-399E-44DF-94D7-A698CC53D53A}"/>
              </a:ext>
            </a:extLst>
          </p:cNvPr>
          <p:cNvSpPr>
            <a:spLocks noGrp="1"/>
          </p:cNvSpPr>
          <p:nvPr>
            <p:ph idx="1"/>
          </p:nvPr>
        </p:nvSpPr>
        <p:spPr/>
        <p:txBody>
          <a:bodyPr lIns="91440" tIns="45720" rIns="91440" bIns="45720" anchor="t"/>
          <a:lstStyle/>
          <a:p>
            <a:r>
              <a:rPr lang="en-IN" sz="2000" b="1" i="0" dirty="0">
                <a:effectLst/>
              </a:rPr>
              <a:t>Quality of Life Improvement</a:t>
            </a:r>
            <a:r>
              <a:rPr lang="en-IN" sz="2000" b="0" i="0" dirty="0">
                <a:solidFill>
                  <a:srgbClr val="374151"/>
                </a:solidFill>
                <a:effectLst/>
              </a:rPr>
              <a:t>: Urban traffic congestion is a daily reality for millions of people worldwide. By improving congestion prediction and management, society can enjoy reduced commute times, less stress, and an overall improved quality of life.</a:t>
            </a:r>
          </a:p>
          <a:p>
            <a:r>
              <a:rPr lang="en-IN" sz="2000" b="1" i="0" dirty="0">
                <a:effectLst/>
              </a:rPr>
              <a:t>Economic Productivity</a:t>
            </a:r>
            <a:r>
              <a:rPr lang="en-IN" sz="2000" b="0" i="0" dirty="0">
                <a:solidFill>
                  <a:srgbClr val="374151"/>
                </a:solidFill>
                <a:effectLst/>
              </a:rPr>
              <a:t>: Traffic congestion costs a lot of money each year due to lost productivity, fuel consumption, and delayed deliveries. More accurate congestion prediction can mitigate these losses and boost economic productivity.</a:t>
            </a:r>
          </a:p>
          <a:p>
            <a:r>
              <a:rPr lang="en-IN" sz="2000" b="1" i="0" dirty="0">
                <a:effectLst/>
              </a:rPr>
              <a:t>Environmental Impact</a:t>
            </a:r>
            <a:r>
              <a:rPr lang="en-IN" sz="2000" b="0" i="0" dirty="0">
                <a:solidFill>
                  <a:srgbClr val="374151"/>
                </a:solidFill>
                <a:effectLst/>
              </a:rPr>
              <a:t>: Congestion contributes to increased greenhouse gas emissions and air pollution. Efficient traffic prediction and management can lead to reduced emissions, promoting cleaner and healthier urban environments.</a:t>
            </a:r>
          </a:p>
          <a:p>
            <a:r>
              <a:rPr lang="en-IN" sz="2000" b="1" i="0" dirty="0">
                <a:effectLst/>
              </a:rPr>
              <a:t>Resource Allocation</a:t>
            </a:r>
            <a:r>
              <a:rPr lang="en-IN" sz="2000" b="0" i="0" dirty="0">
                <a:solidFill>
                  <a:srgbClr val="374151"/>
                </a:solidFill>
                <a:effectLst/>
              </a:rPr>
              <a:t>: City planners and transportation authorities can allocate resources more efficiently with better traffic prediction. This includes optimizing public transportation routes, improving road infrastructure, and implementing congestion pricing strategies.</a:t>
            </a:r>
          </a:p>
          <a:p>
            <a:r>
              <a:rPr lang="en-IN" sz="2000" b="1" i="0" dirty="0">
                <a:effectLst/>
              </a:rPr>
              <a:t>Safety Enhancement</a:t>
            </a:r>
            <a:r>
              <a:rPr lang="en-IN" sz="2000" b="0" i="0" dirty="0">
                <a:solidFill>
                  <a:srgbClr val="374151"/>
                </a:solidFill>
                <a:effectLst/>
              </a:rPr>
              <a:t>: Predicting traffic congestion accurately can enhance road safety. It allows for better planning for emergency services and reduces the likelihood of accidents caused by sudden traffic jams.</a:t>
            </a:r>
            <a:endParaRPr lang="en-US" sz="2000" dirty="0">
              <a:cs typeface="Calibri"/>
            </a:endParaRPr>
          </a:p>
        </p:txBody>
      </p:sp>
    </p:spTree>
    <p:extLst>
      <p:ext uri="{BB962C8B-B14F-4D97-AF65-F5344CB8AC3E}">
        <p14:creationId xmlns:p14="http://schemas.microsoft.com/office/powerpoint/2010/main" val="33323966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2485C5-9F6C-4F3E-AF5D-00F7518AF861}"/>
              </a:ext>
            </a:extLst>
          </p:cNvPr>
          <p:cNvSpPr>
            <a:spLocks noGrp="1"/>
          </p:cNvSpPr>
          <p:nvPr>
            <p:ph type="title"/>
          </p:nvPr>
        </p:nvSpPr>
        <p:spPr/>
        <p:txBody>
          <a:bodyPr lIns="91440" tIns="45720" rIns="91440" bIns="45720" anchor="ctr"/>
          <a:lstStyle/>
          <a:p>
            <a:r>
              <a:rPr lang="en-US" dirty="0">
                <a:cs typeface="Calibri"/>
              </a:rPr>
              <a:t>Conclusions</a:t>
            </a:r>
            <a:endParaRPr lang="en-US" dirty="0"/>
          </a:p>
        </p:txBody>
      </p:sp>
      <p:sp>
        <p:nvSpPr>
          <p:cNvPr id="3" name="Content Placeholder 2">
            <a:extLst>
              <a:ext uri="{FF2B5EF4-FFF2-40B4-BE49-F238E27FC236}">
                <a16:creationId xmlns:a16="http://schemas.microsoft.com/office/drawing/2014/main" id="{A989238F-CCF4-4E9F-8E99-D46A768D1AED}"/>
              </a:ext>
            </a:extLst>
          </p:cNvPr>
          <p:cNvSpPr>
            <a:spLocks noGrp="1"/>
          </p:cNvSpPr>
          <p:nvPr>
            <p:ph idx="1"/>
          </p:nvPr>
        </p:nvSpPr>
        <p:spPr/>
        <p:txBody>
          <a:bodyPr lIns="91440" tIns="45720" rIns="91440" bIns="45720" anchor="t"/>
          <a:lstStyle/>
          <a:p>
            <a:endParaRPr lang="en-US" sz="2800" dirty="0">
              <a:ea typeface="+mn-lt"/>
              <a:cs typeface="+mn-lt"/>
            </a:endParaRPr>
          </a:p>
          <a:p>
            <a:pPr marL="0" indent="0">
              <a:buNone/>
            </a:pPr>
            <a:endParaRPr lang="en-US" sz="2800" dirty="0">
              <a:cs typeface="Calibri"/>
            </a:endParaRPr>
          </a:p>
        </p:txBody>
      </p:sp>
      <p:sp>
        <p:nvSpPr>
          <p:cNvPr id="4" name="TextBox 3">
            <a:extLst>
              <a:ext uri="{FF2B5EF4-FFF2-40B4-BE49-F238E27FC236}">
                <a16:creationId xmlns:a16="http://schemas.microsoft.com/office/drawing/2014/main" id="{8069FCAD-F73C-DC4F-06A6-373892D94E3A}"/>
              </a:ext>
            </a:extLst>
          </p:cNvPr>
          <p:cNvSpPr txBox="1"/>
          <p:nvPr/>
        </p:nvSpPr>
        <p:spPr>
          <a:xfrm>
            <a:off x="597408" y="1997839"/>
            <a:ext cx="11407023" cy="2862322"/>
          </a:xfrm>
          <a:prstGeom prst="rect">
            <a:avLst/>
          </a:prstGeom>
          <a:noFill/>
        </p:spPr>
        <p:txBody>
          <a:bodyPr wrap="square" rtlCol="0">
            <a:spAutoFit/>
          </a:bodyPr>
          <a:lstStyle/>
          <a:p>
            <a:r>
              <a:rPr lang="en-IN" sz="2000" b="0" i="0" dirty="0">
                <a:solidFill>
                  <a:srgbClr val="374151"/>
                </a:solidFill>
                <a:effectLst/>
              </a:rPr>
              <a:t>Our research isn't confined to the realm of theory; it has the potential to translate into tangible improvements in our daily lives, from smoother commutes to cleaner, more accessible cities.</a:t>
            </a:r>
          </a:p>
          <a:p>
            <a:endParaRPr lang="en-IN" sz="2000" b="0" i="0" dirty="0">
              <a:solidFill>
                <a:srgbClr val="374151"/>
              </a:solidFill>
              <a:effectLst/>
            </a:endParaRPr>
          </a:p>
          <a:p>
            <a:r>
              <a:rPr lang="en-IN" sz="2000" b="0" i="0" dirty="0">
                <a:solidFill>
                  <a:srgbClr val="374151"/>
                </a:solidFill>
                <a:effectLst/>
              </a:rPr>
              <a:t>In conclusion, our journey is just beginning. As students, we remain committed to continuous learning and exploration. We look forward to further innovation and advancements in the field of traffic prediction. By harnessing interpretable machine learning, we can create smarter, more adaptive, and less congested cities. Together, we can transform urban traffic prediction, making it a force for progress, sustainability, and quality of life. Let's continue to collaborate, innovate, and drive change for the betterment of our cities and society as a whole.</a:t>
            </a:r>
            <a:endParaRPr lang="en-US" sz="2000" dirty="0"/>
          </a:p>
        </p:txBody>
      </p:sp>
    </p:spTree>
    <p:extLst>
      <p:ext uri="{BB962C8B-B14F-4D97-AF65-F5344CB8AC3E}">
        <p14:creationId xmlns:p14="http://schemas.microsoft.com/office/powerpoint/2010/main" val="37203979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174C16-D5CC-4AF8-A909-C488081E0EAC}"/>
              </a:ext>
            </a:extLst>
          </p:cNvPr>
          <p:cNvSpPr>
            <a:spLocks noGrp="1"/>
          </p:cNvSpPr>
          <p:nvPr>
            <p:ph type="title"/>
          </p:nvPr>
        </p:nvSpPr>
        <p:spPr/>
        <p:txBody>
          <a:bodyPr lIns="91440" tIns="45720" rIns="91440" bIns="45720" anchor="ctr"/>
          <a:lstStyle/>
          <a:p>
            <a:r>
              <a:rPr lang="en-US" dirty="0">
                <a:cs typeface="Calibri"/>
              </a:rPr>
              <a:t>References</a:t>
            </a:r>
            <a:endParaRPr lang="en-US" dirty="0"/>
          </a:p>
        </p:txBody>
      </p:sp>
      <p:sp>
        <p:nvSpPr>
          <p:cNvPr id="3" name="Content Placeholder 2">
            <a:extLst>
              <a:ext uri="{FF2B5EF4-FFF2-40B4-BE49-F238E27FC236}">
                <a16:creationId xmlns:a16="http://schemas.microsoft.com/office/drawing/2014/main" id="{05DAED58-F91C-4067-AB59-4822CC62687A}"/>
              </a:ext>
            </a:extLst>
          </p:cNvPr>
          <p:cNvSpPr>
            <a:spLocks noGrp="1"/>
          </p:cNvSpPr>
          <p:nvPr>
            <p:ph idx="1"/>
          </p:nvPr>
        </p:nvSpPr>
        <p:spPr/>
        <p:txBody>
          <a:bodyPr lIns="91440" tIns="45720" rIns="91440" bIns="45720" anchor="t"/>
          <a:lstStyle/>
          <a:p>
            <a:pPr marL="228600" lvl="0" indent="-228600" algn="just">
              <a:lnSpc>
                <a:spcPct val="150000"/>
              </a:lnSpc>
              <a:buAutoNum type="arabicPeriod"/>
            </a:pPr>
            <a:r>
              <a:rPr lang="en-GB" sz="1100" dirty="0">
                <a:effectLst/>
                <a:latin typeface="Times New Roman" panose="02020603050405020304" pitchFamily="18" charset="0"/>
                <a:ea typeface="Times New Roman" panose="02020603050405020304" pitchFamily="18" charset="0"/>
              </a:rPr>
              <a:t>Yuan, </a:t>
            </a:r>
            <a:r>
              <a:rPr lang="en-GB" sz="1100" dirty="0" err="1">
                <a:effectLst/>
                <a:latin typeface="Times New Roman" panose="02020603050405020304" pitchFamily="18" charset="0"/>
                <a:ea typeface="Times New Roman" panose="02020603050405020304" pitchFamily="18" charset="0"/>
              </a:rPr>
              <a:t>Xiaoming</a:t>
            </a:r>
            <a:r>
              <a:rPr lang="en-GB" sz="1100" dirty="0">
                <a:effectLst/>
                <a:latin typeface="Times New Roman" panose="02020603050405020304" pitchFamily="18" charset="0"/>
                <a:ea typeface="Times New Roman" panose="02020603050405020304" pitchFamily="18" charset="0"/>
              </a:rPr>
              <a:t>, </a:t>
            </a:r>
            <a:r>
              <a:rPr lang="en-GB" sz="1100" dirty="0" err="1">
                <a:effectLst/>
                <a:latin typeface="Times New Roman" panose="02020603050405020304" pitchFamily="18" charset="0"/>
                <a:ea typeface="Times New Roman" panose="02020603050405020304" pitchFamily="18" charset="0"/>
              </a:rPr>
              <a:t>Jiahui</a:t>
            </a:r>
            <a:r>
              <a:rPr lang="en-GB" sz="1100" dirty="0">
                <a:effectLst/>
                <a:latin typeface="Times New Roman" panose="02020603050405020304" pitchFamily="18" charset="0"/>
                <a:ea typeface="Times New Roman" panose="02020603050405020304" pitchFamily="18" charset="0"/>
              </a:rPr>
              <a:t> Chen, </a:t>
            </a:r>
            <a:r>
              <a:rPr lang="en-GB" sz="1100" dirty="0" err="1">
                <a:effectLst/>
                <a:latin typeface="Times New Roman" panose="02020603050405020304" pitchFamily="18" charset="0"/>
                <a:ea typeface="Times New Roman" panose="02020603050405020304" pitchFamily="18" charset="0"/>
              </a:rPr>
              <a:t>Jiayu</a:t>
            </a:r>
            <a:r>
              <a:rPr lang="en-GB" sz="1100" dirty="0">
                <a:effectLst/>
                <a:latin typeface="Times New Roman" panose="02020603050405020304" pitchFamily="18" charset="0"/>
                <a:ea typeface="Times New Roman" panose="02020603050405020304" pitchFamily="18" charset="0"/>
              </a:rPr>
              <a:t> Yang, Ning Zhang, </a:t>
            </a:r>
            <a:r>
              <a:rPr lang="en-GB" sz="1100" dirty="0" err="1">
                <a:effectLst/>
                <a:latin typeface="Times New Roman" panose="02020603050405020304" pitchFamily="18" charset="0"/>
                <a:ea typeface="Times New Roman" panose="02020603050405020304" pitchFamily="18" charset="0"/>
              </a:rPr>
              <a:t>Tingting</a:t>
            </a:r>
            <a:r>
              <a:rPr lang="en-GB" sz="1100" dirty="0">
                <a:effectLst/>
                <a:latin typeface="Times New Roman" panose="02020603050405020304" pitchFamily="18" charset="0"/>
                <a:ea typeface="Times New Roman" panose="02020603050405020304" pitchFamily="18" charset="0"/>
              </a:rPr>
              <a:t> Yang, Tao Han, and Amir </a:t>
            </a:r>
            <a:r>
              <a:rPr lang="en-GB" sz="1100" dirty="0" err="1">
                <a:effectLst/>
                <a:latin typeface="Times New Roman" panose="02020603050405020304" pitchFamily="18" charset="0"/>
                <a:ea typeface="Times New Roman" panose="02020603050405020304" pitchFamily="18" charset="0"/>
              </a:rPr>
              <a:t>Taherkordi</a:t>
            </a:r>
            <a:r>
              <a:rPr lang="en-GB" sz="1100" dirty="0">
                <a:effectLst/>
                <a:latin typeface="Times New Roman" panose="02020603050405020304" pitchFamily="18" charset="0"/>
                <a:ea typeface="Times New Roman" panose="02020603050405020304" pitchFamily="18" charset="0"/>
              </a:rPr>
              <a:t>. "</a:t>
            </a:r>
            <a:r>
              <a:rPr lang="en-GB" sz="1100" dirty="0" err="1">
                <a:effectLst/>
                <a:latin typeface="Times New Roman" panose="02020603050405020304" pitchFamily="18" charset="0"/>
                <a:ea typeface="Times New Roman" panose="02020603050405020304" pitchFamily="18" charset="0"/>
              </a:rPr>
              <a:t>Fedstn</a:t>
            </a:r>
            <a:r>
              <a:rPr lang="en-GB" sz="1100" dirty="0">
                <a:effectLst/>
                <a:latin typeface="Times New Roman" panose="02020603050405020304" pitchFamily="18" charset="0"/>
                <a:ea typeface="Times New Roman" panose="02020603050405020304" pitchFamily="18" charset="0"/>
              </a:rPr>
              <a:t>: Graph representation driven federated learning for edge computing enabled urban traffic flow prediction." IEEE Transactions on Intelligent Transportation Systems (2022).</a:t>
            </a:r>
            <a:endParaRPr lang="en-IN" sz="1100" dirty="0">
              <a:latin typeface="Times New Roman" panose="02020603050405020304" pitchFamily="18" charset="0"/>
              <a:ea typeface="Times New Roman" panose="02020603050405020304" pitchFamily="18" charset="0"/>
            </a:endParaRPr>
          </a:p>
          <a:p>
            <a:pPr marL="228600" lvl="0" indent="-228600" algn="just">
              <a:lnSpc>
                <a:spcPct val="150000"/>
              </a:lnSpc>
              <a:buAutoNum type="arabicPeriod"/>
            </a:pPr>
            <a:r>
              <a:rPr lang="en-IN" sz="1100" dirty="0">
                <a:solidFill>
                  <a:srgbClr val="000000"/>
                </a:solidFill>
                <a:effectLst/>
                <a:latin typeface="Times New Roman" panose="02020603050405020304" pitchFamily="18" charset="0"/>
                <a:ea typeface="Times New Roman" panose="02020603050405020304" pitchFamily="18" charset="0"/>
              </a:rPr>
              <a:t>Medina-Salgado, Boris, Eddy Sanchez-</a:t>
            </a:r>
            <a:r>
              <a:rPr lang="en-IN" sz="1100" dirty="0" err="1">
                <a:solidFill>
                  <a:srgbClr val="000000"/>
                </a:solidFill>
                <a:effectLst/>
                <a:latin typeface="Times New Roman" panose="02020603050405020304" pitchFamily="18" charset="0"/>
                <a:ea typeface="Times New Roman" panose="02020603050405020304" pitchFamily="18" charset="0"/>
              </a:rPr>
              <a:t>DelaCruz</a:t>
            </a:r>
            <a:r>
              <a:rPr lang="en-IN" sz="1100" dirty="0">
                <a:solidFill>
                  <a:srgbClr val="000000"/>
                </a:solidFill>
                <a:effectLst/>
                <a:latin typeface="Times New Roman" panose="02020603050405020304" pitchFamily="18" charset="0"/>
                <a:ea typeface="Times New Roman" panose="02020603050405020304" pitchFamily="18" charset="0"/>
              </a:rPr>
              <a:t>, Pilar </a:t>
            </a:r>
            <a:r>
              <a:rPr lang="en-IN" sz="1100" dirty="0" err="1">
                <a:solidFill>
                  <a:srgbClr val="000000"/>
                </a:solidFill>
                <a:effectLst/>
                <a:latin typeface="Times New Roman" panose="02020603050405020304" pitchFamily="18" charset="0"/>
                <a:ea typeface="Times New Roman" panose="02020603050405020304" pitchFamily="18" charset="0"/>
              </a:rPr>
              <a:t>Pozos</a:t>
            </a:r>
            <a:r>
              <a:rPr lang="en-IN" sz="1100" dirty="0">
                <a:solidFill>
                  <a:srgbClr val="000000"/>
                </a:solidFill>
                <a:effectLst/>
                <a:latin typeface="Times New Roman" panose="02020603050405020304" pitchFamily="18" charset="0"/>
                <a:ea typeface="Times New Roman" panose="02020603050405020304" pitchFamily="18" charset="0"/>
              </a:rPr>
              <a:t>-Parra, and Javier E. Sierra. "Urban traffic flow prediction techniques: A review." Sustainable Computing: Informatics and Systems 35 (2022): 100739.</a:t>
            </a:r>
            <a:endParaRPr lang="en-IN" sz="1100" dirty="0">
              <a:solidFill>
                <a:srgbClr val="000000"/>
              </a:solidFill>
              <a:latin typeface="Times New Roman" panose="02020603050405020304" pitchFamily="18" charset="0"/>
              <a:ea typeface="Times New Roman" panose="02020603050405020304" pitchFamily="18" charset="0"/>
            </a:endParaRPr>
          </a:p>
          <a:p>
            <a:pPr marL="228600" lvl="0" indent="-228600" algn="just">
              <a:lnSpc>
                <a:spcPct val="150000"/>
              </a:lnSpc>
              <a:buAutoNum type="arabicPeriod"/>
            </a:pPr>
            <a:r>
              <a:rPr lang="en-IN" sz="1100" dirty="0">
                <a:effectLst/>
                <a:latin typeface="Times New Roman" panose="02020603050405020304" pitchFamily="18" charset="0"/>
                <a:ea typeface="Times New Roman" panose="02020603050405020304" pitchFamily="18" charset="0"/>
              </a:rPr>
              <a:t>Zhang, Yi, </a:t>
            </a:r>
            <a:r>
              <a:rPr lang="en-IN" sz="1100" dirty="0" err="1">
                <a:effectLst/>
                <a:latin typeface="Times New Roman" panose="02020603050405020304" pitchFamily="18" charset="0"/>
                <a:ea typeface="Times New Roman" panose="02020603050405020304" pitchFamily="18" charset="0"/>
              </a:rPr>
              <a:t>Shuwang</a:t>
            </a:r>
            <a:r>
              <a:rPr lang="en-IN" sz="1100" dirty="0">
                <a:effectLst/>
                <a:latin typeface="Times New Roman" panose="02020603050405020304" pitchFamily="18" charset="0"/>
                <a:ea typeface="Times New Roman" panose="02020603050405020304" pitchFamily="18" charset="0"/>
              </a:rPr>
              <a:t> Yang, and Hang Zhang. "Research on urban traffic industrial management under big data: Taking traffic congestion as an example." Journal of Advanced Transportation 2022 (2022).</a:t>
            </a:r>
          </a:p>
          <a:p>
            <a:pPr marL="228600" lvl="0" indent="-228600" algn="just">
              <a:lnSpc>
                <a:spcPct val="150000"/>
              </a:lnSpc>
              <a:buAutoNum type="arabicPeriod"/>
            </a:pPr>
            <a:r>
              <a:rPr lang="en-GB" sz="1100" dirty="0">
                <a:effectLst/>
                <a:latin typeface="Times New Roman" panose="02020603050405020304" pitchFamily="18" charset="0"/>
                <a:ea typeface="Times New Roman" panose="02020603050405020304" pitchFamily="18" charset="0"/>
              </a:rPr>
              <a:t>Chen, Gen, and </a:t>
            </a:r>
            <a:r>
              <a:rPr lang="en-GB" sz="1100" dirty="0" err="1">
                <a:effectLst/>
                <a:latin typeface="Times New Roman" panose="02020603050405020304" pitchFamily="18" charset="0"/>
                <a:ea typeface="Times New Roman" panose="02020603050405020304" pitchFamily="18" charset="0"/>
              </a:rPr>
              <a:t>Jiawan</a:t>
            </a:r>
            <a:r>
              <a:rPr lang="en-GB" sz="1100" dirty="0">
                <a:effectLst/>
                <a:latin typeface="Times New Roman" panose="02020603050405020304" pitchFamily="18" charset="0"/>
                <a:ea typeface="Times New Roman" panose="02020603050405020304" pitchFamily="18" charset="0"/>
              </a:rPr>
              <a:t> Zhang. "Applying Artificial Intelligence and Deep Belief Network to predict traffic congestion evacuation performance in smart cities." Applied Soft Computing 121 (2022): 108692.</a:t>
            </a:r>
            <a:endParaRPr lang="en-IN" sz="1100" dirty="0">
              <a:latin typeface="Times New Roman" panose="02020603050405020304" pitchFamily="18" charset="0"/>
              <a:ea typeface="Times New Roman" panose="02020603050405020304" pitchFamily="18" charset="0"/>
            </a:endParaRPr>
          </a:p>
          <a:p>
            <a:pPr marL="228600" lvl="0" indent="-228600" algn="just">
              <a:lnSpc>
                <a:spcPct val="150000"/>
              </a:lnSpc>
              <a:buAutoNum type="arabicPeriod"/>
            </a:pPr>
            <a:r>
              <a:rPr lang="en-GB" sz="1100" dirty="0">
                <a:effectLst/>
                <a:latin typeface="Times New Roman" panose="02020603050405020304" pitchFamily="18" charset="0"/>
                <a:ea typeface="Times New Roman" panose="02020603050405020304" pitchFamily="18" charset="0"/>
              </a:rPr>
              <a:t>M Saleem, Muhammad, </a:t>
            </a:r>
            <a:r>
              <a:rPr lang="en-GB" sz="1100" dirty="0" err="1">
                <a:effectLst/>
                <a:latin typeface="Times New Roman" panose="02020603050405020304" pitchFamily="18" charset="0"/>
                <a:ea typeface="Times New Roman" panose="02020603050405020304" pitchFamily="18" charset="0"/>
              </a:rPr>
              <a:t>Sagheer</a:t>
            </a:r>
            <a:r>
              <a:rPr lang="en-GB" sz="1100" dirty="0">
                <a:effectLst/>
                <a:latin typeface="Times New Roman" panose="02020603050405020304" pitchFamily="18" charset="0"/>
                <a:ea typeface="Times New Roman" panose="02020603050405020304" pitchFamily="18" charset="0"/>
              </a:rPr>
              <a:t> Abbas, Taher M. Ghazal, Muhammad Adnan Khan, Nizar </a:t>
            </a:r>
            <a:r>
              <a:rPr lang="en-GB" sz="1100" dirty="0" err="1">
                <a:effectLst/>
                <a:latin typeface="Times New Roman" panose="02020603050405020304" pitchFamily="18" charset="0"/>
                <a:ea typeface="Times New Roman" panose="02020603050405020304" pitchFamily="18" charset="0"/>
              </a:rPr>
              <a:t>Sahawneh</a:t>
            </a:r>
            <a:r>
              <a:rPr lang="en-GB" sz="1100" dirty="0">
                <a:effectLst/>
                <a:latin typeface="Times New Roman" panose="02020603050405020304" pitchFamily="18" charset="0"/>
                <a:ea typeface="Times New Roman" panose="02020603050405020304" pitchFamily="18" charset="0"/>
              </a:rPr>
              <a:t>, and Munir Ahmad. "Smart cities: Fusion-based intelligent traffic congestion control system for vehicular networks using machine learning techniques." Egyptian Informatics Journal 23, no. 3 (2022): 417-426.</a:t>
            </a:r>
            <a:endParaRPr lang="en-IN" sz="1100" dirty="0">
              <a:latin typeface="Times New Roman" panose="02020603050405020304" pitchFamily="18" charset="0"/>
              <a:ea typeface="Times New Roman" panose="02020603050405020304" pitchFamily="18" charset="0"/>
            </a:endParaRPr>
          </a:p>
          <a:p>
            <a:pPr marL="228600" lvl="0" indent="-228600" algn="just">
              <a:lnSpc>
                <a:spcPct val="150000"/>
              </a:lnSpc>
              <a:buAutoNum type="arabicPeriod"/>
            </a:pPr>
            <a:r>
              <a:rPr lang="en-GB" sz="1100" dirty="0">
                <a:effectLst/>
                <a:latin typeface="Times New Roman" panose="02020603050405020304" pitchFamily="18" charset="0"/>
                <a:ea typeface="Times New Roman" panose="02020603050405020304" pitchFamily="18" charset="0"/>
              </a:rPr>
              <a:t>Xu, </a:t>
            </a:r>
            <a:r>
              <a:rPr lang="en-GB" sz="1100" dirty="0" err="1">
                <a:effectLst/>
                <a:latin typeface="Times New Roman" panose="02020603050405020304" pitchFamily="18" charset="0"/>
                <a:ea typeface="Times New Roman" panose="02020603050405020304" pitchFamily="18" charset="0"/>
              </a:rPr>
              <a:t>Yuanbo</a:t>
            </a:r>
            <a:r>
              <a:rPr lang="en-GB" sz="1100" dirty="0">
                <a:effectLst/>
                <a:latin typeface="Times New Roman" panose="02020603050405020304" pitchFamily="18" charset="0"/>
                <a:ea typeface="Times New Roman" panose="02020603050405020304" pitchFamily="18" charset="0"/>
              </a:rPr>
              <a:t>, Xiao Cai, </a:t>
            </a:r>
            <a:r>
              <a:rPr lang="en-GB" sz="1100" dirty="0" err="1">
                <a:effectLst/>
                <a:latin typeface="Times New Roman" panose="02020603050405020304" pitchFamily="18" charset="0"/>
                <a:ea typeface="Times New Roman" panose="02020603050405020304" pitchFamily="18" charset="0"/>
              </a:rPr>
              <a:t>En</a:t>
            </a:r>
            <a:r>
              <a:rPr lang="en-GB" sz="1100" dirty="0">
                <a:effectLst/>
                <a:latin typeface="Times New Roman" panose="02020603050405020304" pitchFamily="18" charset="0"/>
                <a:ea typeface="Times New Roman" panose="02020603050405020304" pitchFamily="18" charset="0"/>
              </a:rPr>
              <a:t> Wang, </a:t>
            </a:r>
            <a:r>
              <a:rPr lang="en-GB" sz="1100" dirty="0" err="1">
                <a:effectLst/>
                <a:latin typeface="Times New Roman" panose="02020603050405020304" pitchFamily="18" charset="0"/>
                <a:ea typeface="Times New Roman" panose="02020603050405020304" pitchFamily="18" charset="0"/>
              </a:rPr>
              <a:t>Wenbin</a:t>
            </a:r>
            <a:r>
              <a:rPr lang="en-GB" sz="1100" dirty="0">
                <a:effectLst/>
                <a:latin typeface="Times New Roman" panose="02020603050405020304" pitchFamily="18" charset="0"/>
                <a:ea typeface="Times New Roman" panose="02020603050405020304" pitchFamily="18" charset="0"/>
              </a:rPr>
              <a:t> Liu, </a:t>
            </a:r>
            <a:r>
              <a:rPr lang="en-GB" sz="1100" dirty="0" err="1">
                <a:effectLst/>
                <a:latin typeface="Times New Roman" panose="02020603050405020304" pitchFamily="18" charset="0"/>
                <a:ea typeface="Times New Roman" panose="02020603050405020304" pitchFamily="18" charset="0"/>
              </a:rPr>
              <a:t>Yongjian</a:t>
            </a:r>
            <a:r>
              <a:rPr lang="en-GB" sz="1100" dirty="0">
                <a:effectLst/>
                <a:latin typeface="Times New Roman" panose="02020603050405020304" pitchFamily="18" charset="0"/>
                <a:ea typeface="Times New Roman" panose="02020603050405020304" pitchFamily="18" charset="0"/>
              </a:rPr>
              <a:t> Yang, and </a:t>
            </a:r>
            <a:r>
              <a:rPr lang="en-GB" sz="1100" dirty="0" err="1">
                <a:effectLst/>
                <a:latin typeface="Times New Roman" panose="02020603050405020304" pitchFamily="18" charset="0"/>
                <a:ea typeface="Times New Roman" panose="02020603050405020304" pitchFamily="18" charset="0"/>
              </a:rPr>
              <a:t>Funing</a:t>
            </a:r>
            <a:r>
              <a:rPr lang="en-GB" sz="1100" dirty="0">
                <a:effectLst/>
                <a:latin typeface="Times New Roman" panose="02020603050405020304" pitchFamily="18" charset="0"/>
                <a:ea typeface="Times New Roman" panose="02020603050405020304" pitchFamily="18" charset="0"/>
              </a:rPr>
              <a:t> Yang. "Dynamic traffic correlations based </a:t>
            </a:r>
            <a:r>
              <a:rPr lang="en-GB" sz="1100" dirty="0" err="1">
                <a:effectLst/>
                <a:latin typeface="Times New Roman" panose="02020603050405020304" pitchFamily="18" charset="0"/>
                <a:ea typeface="Times New Roman" panose="02020603050405020304" pitchFamily="18" charset="0"/>
              </a:rPr>
              <a:t>spatio</a:t>
            </a:r>
            <a:r>
              <a:rPr lang="en-GB" sz="1100" dirty="0">
                <a:effectLst/>
                <a:latin typeface="Times New Roman" panose="02020603050405020304" pitchFamily="18" charset="0"/>
                <a:ea typeface="Times New Roman" panose="02020603050405020304" pitchFamily="18" charset="0"/>
              </a:rPr>
              <a:t>-temporal graph convolutional network for urban traffic prediction." Information Sciences 621 (2023): 580-595.</a:t>
            </a:r>
            <a:endParaRPr lang="en-IN" sz="1100" dirty="0">
              <a:latin typeface="Times New Roman" panose="02020603050405020304" pitchFamily="18" charset="0"/>
              <a:ea typeface="Times New Roman" panose="02020603050405020304" pitchFamily="18" charset="0"/>
            </a:endParaRPr>
          </a:p>
          <a:p>
            <a:pPr marL="228600" lvl="0" indent="-228600" algn="just">
              <a:lnSpc>
                <a:spcPct val="150000"/>
              </a:lnSpc>
              <a:buAutoNum type="arabicPeriod"/>
            </a:pPr>
            <a:r>
              <a:rPr lang="en-GB" sz="1100" dirty="0" err="1">
                <a:effectLst/>
                <a:latin typeface="Times New Roman" panose="02020603050405020304" pitchFamily="18" charset="0"/>
                <a:ea typeface="Times New Roman" panose="02020603050405020304" pitchFamily="18" charset="0"/>
              </a:rPr>
              <a:t>Ouallane</a:t>
            </a:r>
            <a:r>
              <a:rPr lang="en-GB" sz="1100" dirty="0">
                <a:effectLst/>
                <a:latin typeface="Times New Roman" panose="02020603050405020304" pitchFamily="18" charset="0"/>
                <a:ea typeface="Times New Roman" panose="02020603050405020304" pitchFamily="18" charset="0"/>
              </a:rPr>
              <a:t>, Asma Ait, </a:t>
            </a:r>
            <a:r>
              <a:rPr lang="en-GB" sz="1100" dirty="0" err="1">
                <a:effectLst/>
                <a:latin typeface="Times New Roman" panose="02020603050405020304" pitchFamily="18" charset="0"/>
                <a:ea typeface="Times New Roman" panose="02020603050405020304" pitchFamily="18" charset="0"/>
              </a:rPr>
              <a:t>Assia</a:t>
            </a:r>
            <a:r>
              <a:rPr lang="en-GB" sz="1100" dirty="0">
                <a:effectLst/>
                <a:latin typeface="Times New Roman" panose="02020603050405020304" pitchFamily="18" charset="0"/>
                <a:ea typeface="Times New Roman" panose="02020603050405020304" pitchFamily="18" charset="0"/>
              </a:rPr>
              <a:t> </a:t>
            </a:r>
            <a:r>
              <a:rPr lang="en-GB" sz="1100" dirty="0" err="1">
                <a:effectLst/>
                <a:latin typeface="Times New Roman" panose="02020603050405020304" pitchFamily="18" charset="0"/>
                <a:ea typeface="Times New Roman" panose="02020603050405020304" pitchFamily="18" charset="0"/>
              </a:rPr>
              <a:t>Bakali</a:t>
            </a:r>
            <a:r>
              <a:rPr lang="en-GB" sz="1100" dirty="0">
                <a:effectLst/>
                <a:latin typeface="Times New Roman" panose="02020603050405020304" pitchFamily="18" charset="0"/>
                <a:ea typeface="Times New Roman" panose="02020603050405020304" pitchFamily="18" charset="0"/>
              </a:rPr>
              <a:t>, Ayoub </a:t>
            </a:r>
            <a:r>
              <a:rPr lang="en-GB" sz="1100" dirty="0" err="1">
                <a:effectLst/>
                <a:latin typeface="Times New Roman" panose="02020603050405020304" pitchFamily="18" charset="0"/>
                <a:ea typeface="Times New Roman" panose="02020603050405020304" pitchFamily="18" charset="0"/>
              </a:rPr>
              <a:t>Bahnasse</a:t>
            </a:r>
            <a:r>
              <a:rPr lang="en-GB" sz="1100" dirty="0">
                <a:effectLst/>
                <a:latin typeface="Times New Roman" panose="02020603050405020304" pitchFamily="18" charset="0"/>
                <a:ea typeface="Times New Roman" panose="02020603050405020304" pitchFamily="18" charset="0"/>
              </a:rPr>
              <a:t>, Said </a:t>
            </a:r>
            <a:r>
              <a:rPr lang="en-GB" sz="1100" dirty="0" err="1">
                <a:effectLst/>
                <a:latin typeface="Times New Roman" panose="02020603050405020304" pitchFamily="18" charset="0"/>
                <a:ea typeface="Times New Roman" panose="02020603050405020304" pitchFamily="18" charset="0"/>
              </a:rPr>
              <a:t>Broumi</a:t>
            </a:r>
            <a:r>
              <a:rPr lang="en-GB" sz="1100" dirty="0">
                <a:effectLst/>
                <a:latin typeface="Times New Roman" panose="02020603050405020304" pitchFamily="18" charset="0"/>
                <a:ea typeface="Times New Roman" panose="02020603050405020304" pitchFamily="18" charset="0"/>
              </a:rPr>
              <a:t>, and Mohamed </a:t>
            </a:r>
            <a:r>
              <a:rPr lang="en-GB" sz="1100" dirty="0" err="1">
                <a:effectLst/>
                <a:latin typeface="Times New Roman" panose="02020603050405020304" pitchFamily="18" charset="0"/>
                <a:ea typeface="Times New Roman" panose="02020603050405020304" pitchFamily="18" charset="0"/>
              </a:rPr>
              <a:t>Talea</a:t>
            </a:r>
            <a:r>
              <a:rPr lang="en-GB" sz="1100" dirty="0">
                <a:effectLst/>
                <a:latin typeface="Times New Roman" panose="02020603050405020304" pitchFamily="18" charset="0"/>
                <a:ea typeface="Times New Roman" panose="02020603050405020304" pitchFamily="18" charset="0"/>
              </a:rPr>
              <a:t>. "Fusion of engineering insights and emerging trends: Intelligent urban traffic management system." Information Fusion (2022).</a:t>
            </a:r>
            <a:endParaRPr lang="en-IN" sz="1100" dirty="0">
              <a:latin typeface="Times New Roman" panose="02020603050405020304" pitchFamily="18" charset="0"/>
              <a:ea typeface="Times New Roman" panose="02020603050405020304" pitchFamily="18" charset="0"/>
            </a:endParaRPr>
          </a:p>
          <a:p>
            <a:pPr marL="228600" lvl="0" indent="-228600" algn="just">
              <a:lnSpc>
                <a:spcPct val="150000"/>
              </a:lnSpc>
              <a:buAutoNum type="arabicPeriod"/>
            </a:pPr>
            <a:r>
              <a:rPr lang="en-GB" sz="1100" dirty="0">
                <a:effectLst/>
                <a:latin typeface="Times New Roman" panose="02020603050405020304" pitchFamily="18" charset="0"/>
                <a:ea typeface="Times New Roman" panose="02020603050405020304" pitchFamily="18" charset="0"/>
              </a:rPr>
              <a:t>Park, Roy C., and Ellen J. Hong. "Urban traffic accident risk prediction for knowledge-based mobile multimedia service." Personal and Ubiquitous Computing (2022): 1-11.</a:t>
            </a:r>
          </a:p>
          <a:p>
            <a:pPr marL="228600" indent="-228600">
              <a:lnSpc>
                <a:spcPct val="150000"/>
              </a:lnSpc>
              <a:buFont typeface="Arial" pitchFamily="34" charset="0"/>
              <a:buAutoNum type="arabicPeriod"/>
            </a:pPr>
            <a:r>
              <a:rPr lang="en-GB" sz="1100" dirty="0">
                <a:effectLst/>
                <a:latin typeface="Times New Roman" panose="02020603050405020304" pitchFamily="18" charset="0"/>
                <a:ea typeface="Times New Roman" panose="02020603050405020304" pitchFamily="18" charset="0"/>
              </a:rPr>
              <a:t>Modi, </a:t>
            </a:r>
            <a:r>
              <a:rPr lang="en-GB" sz="1100" dirty="0" err="1">
                <a:effectLst/>
                <a:latin typeface="Times New Roman" panose="02020603050405020304" pitchFamily="18" charset="0"/>
                <a:ea typeface="Times New Roman" panose="02020603050405020304" pitchFamily="18" charset="0"/>
              </a:rPr>
              <a:t>Shatrughan</a:t>
            </a:r>
            <a:r>
              <a:rPr lang="en-GB" sz="1100" dirty="0">
                <a:effectLst/>
                <a:latin typeface="Times New Roman" panose="02020603050405020304" pitchFamily="18" charset="0"/>
                <a:ea typeface="Times New Roman" panose="02020603050405020304" pitchFamily="18" charset="0"/>
              </a:rPr>
              <a:t>, </a:t>
            </a:r>
            <a:r>
              <a:rPr lang="en-GB" sz="1100" dirty="0" err="1">
                <a:effectLst/>
                <a:latin typeface="Times New Roman" panose="02020603050405020304" pitchFamily="18" charset="0"/>
                <a:ea typeface="Times New Roman" panose="02020603050405020304" pitchFamily="18" charset="0"/>
              </a:rPr>
              <a:t>Jhilik</a:t>
            </a:r>
            <a:r>
              <a:rPr lang="en-GB" sz="1100" dirty="0">
                <a:effectLst/>
                <a:latin typeface="Times New Roman" panose="02020603050405020304" pitchFamily="18" charset="0"/>
                <a:ea typeface="Times New Roman" panose="02020603050405020304" pitchFamily="18" charset="0"/>
              </a:rPr>
              <a:t> Bhattacharya, and Prasenjit </a:t>
            </a:r>
            <a:r>
              <a:rPr lang="en-GB" sz="1100" dirty="0" err="1">
                <a:effectLst/>
                <a:latin typeface="Times New Roman" panose="02020603050405020304" pitchFamily="18" charset="0"/>
                <a:ea typeface="Times New Roman" panose="02020603050405020304" pitchFamily="18" charset="0"/>
              </a:rPr>
              <a:t>Basak</a:t>
            </a:r>
            <a:r>
              <a:rPr lang="en-GB" sz="1100" dirty="0">
                <a:effectLst/>
                <a:latin typeface="Times New Roman" panose="02020603050405020304" pitchFamily="18" charset="0"/>
                <a:ea typeface="Times New Roman" panose="02020603050405020304" pitchFamily="18" charset="0"/>
              </a:rPr>
              <a:t>. "Multistep traffic speed prediction: A deep learning based approach using latent space mapping considering </a:t>
            </a:r>
            <a:r>
              <a:rPr lang="en-GB" sz="1100" dirty="0" err="1">
                <a:effectLst/>
                <a:latin typeface="Times New Roman" panose="02020603050405020304" pitchFamily="18" charset="0"/>
                <a:ea typeface="Times New Roman" panose="02020603050405020304" pitchFamily="18" charset="0"/>
              </a:rPr>
              <a:t>spatio</a:t>
            </a:r>
            <a:r>
              <a:rPr lang="en-GB" sz="1100" dirty="0">
                <a:effectLst/>
                <a:latin typeface="Times New Roman" panose="02020603050405020304" pitchFamily="18" charset="0"/>
                <a:ea typeface="Times New Roman" panose="02020603050405020304" pitchFamily="18" charset="0"/>
              </a:rPr>
              <a:t>-temporal dependencies." Expert Systems with Applications 189 (2022): 116140.</a:t>
            </a:r>
            <a:endParaRPr lang="en-IN" sz="1100" dirty="0">
              <a:effectLst/>
              <a:latin typeface="Times New Roman" panose="02020603050405020304" pitchFamily="18" charset="0"/>
              <a:ea typeface="Times New Roman" panose="02020603050405020304" pitchFamily="18" charset="0"/>
            </a:endParaRPr>
          </a:p>
          <a:p>
            <a:pPr marL="0" lvl="0" indent="0" algn="just">
              <a:lnSpc>
                <a:spcPct val="150000"/>
              </a:lnSpc>
              <a:buNone/>
            </a:pPr>
            <a:endParaRPr lang="en-IN" sz="1100" dirty="0">
              <a:effectLst/>
              <a:latin typeface="Times New Roman" panose="02020603050405020304" pitchFamily="18" charset="0"/>
              <a:ea typeface="Times New Roman" panose="02020603050405020304" pitchFamily="18" charset="0"/>
            </a:endParaRPr>
          </a:p>
          <a:p>
            <a:pPr marL="0" indent="0">
              <a:buNone/>
            </a:pPr>
            <a:endParaRPr lang="en-US" sz="2400" dirty="0">
              <a:cs typeface="Calibri"/>
            </a:endParaRPr>
          </a:p>
        </p:txBody>
      </p:sp>
    </p:spTree>
    <p:extLst>
      <p:ext uri="{BB962C8B-B14F-4D97-AF65-F5344CB8AC3E}">
        <p14:creationId xmlns:p14="http://schemas.microsoft.com/office/powerpoint/2010/main" val="351085385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pPr marL="0" indent="0" algn="ctr">
              <a:buNone/>
            </a:pPr>
            <a:endParaRPr lang="en-US" dirty="0"/>
          </a:p>
          <a:p>
            <a:pPr marL="0" indent="0" algn="ctr">
              <a:buNone/>
            </a:pPr>
            <a:endParaRPr lang="en-US" dirty="0"/>
          </a:p>
          <a:p>
            <a:pPr marL="0" indent="0" algn="ctr">
              <a:buNone/>
            </a:pPr>
            <a:endParaRPr lang="en-US" dirty="0"/>
          </a:p>
          <a:p>
            <a:pPr marL="0" indent="0" algn="ctr">
              <a:buNone/>
            </a:pPr>
            <a:r>
              <a:rPr lang="en-US" sz="7200" dirty="0">
                <a:solidFill>
                  <a:srgbClr val="0070C0"/>
                </a:solidFill>
              </a:rPr>
              <a:t>Thank you</a:t>
            </a:r>
            <a:endParaRPr lang="en-IN" sz="7200" dirty="0">
              <a:solidFill>
                <a:srgbClr val="0070C0"/>
              </a:solidFill>
            </a:endParaRPr>
          </a:p>
        </p:txBody>
      </p:sp>
    </p:spTree>
    <p:extLst>
      <p:ext uri="{BB962C8B-B14F-4D97-AF65-F5344CB8AC3E}">
        <p14:creationId xmlns:p14="http://schemas.microsoft.com/office/powerpoint/2010/main" val="2678879509"/>
      </p:ext>
    </p:extLst>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Custom Desig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962</TotalTime>
  <Words>1914</Words>
  <Application>Microsoft Macintosh PowerPoint</Application>
  <PresentationFormat>Widescreen</PresentationFormat>
  <Paragraphs>93</Paragraphs>
  <Slides>11</Slides>
  <Notes>0</Notes>
  <HiddenSlides>0</HiddenSlides>
  <MMClips>0</MMClips>
  <ScaleCrop>false</ScaleCrop>
  <HeadingPairs>
    <vt:vector size="6" baseType="variant">
      <vt:variant>
        <vt:lpstr>Fonts Used</vt:lpstr>
      </vt:variant>
      <vt:variant>
        <vt:i4>5</vt:i4>
      </vt:variant>
      <vt:variant>
        <vt:lpstr>Theme</vt:lpstr>
      </vt:variant>
      <vt:variant>
        <vt:i4>3</vt:i4>
      </vt:variant>
      <vt:variant>
        <vt:lpstr>Slide Titles</vt:lpstr>
      </vt:variant>
      <vt:variant>
        <vt:i4>11</vt:i4>
      </vt:variant>
    </vt:vector>
  </HeadingPairs>
  <TitlesOfParts>
    <vt:vector size="19" baseType="lpstr">
      <vt:lpstr>Arial</vt:lpstr>
      <vt:lpstr>Calibri</vt:lpstr>
      <vt:lpstr>Calibri Light</vt:lpstr>
      <vt:lpstr>Söhne</vt:lpstr>
      <vt:lpstr>Times New Roman</vt:lpstr>
      <vt:lpstr>1_Office Theme</vt:lpstr>
      <vt:lpstr>1_Custom Design</vt:lpstr>
      <vt:lpstr>Custom Design</vt:lpstr>
      <vt:lpstr>TrafficSense: Harnessing Interpretable Machine Learning to Revolutionize Urban Traffic Congestion Prediction   </vt:lpstr>
      <vt:lpstr>Outline</vt:lpstr>
      <vt:lpstr>Introduction</vt:lpstr>
      <vt:lpstr>Motivation for choosing the Topic</vt:lpstr>
      <vt:lpstr>Literature Review </vt:lpstr>
      <vt:lpstr>Literature Review</vt:lpstr>
      <vt:lpstr>Student’s opinion/perspective </vt:lpstr>
      <vt:lpstr>Relevance to society </vt:lpstr>
      <vt:lpstr>Conclusions</vt:lpstr>
      <vt:lpstr>References</vt:lpstr>
      <vt:lpstr>PowerPoint Presentation</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Naveeta</dc:creator>
  <cp:lastModifiedBy>Syed Khubaib</cp:lastModifiedBy>
  <cp:revision>778</cp:revision>
  <dcterms:created xsi:type="dcterms:W3CDTF">2017-10-04T04:53:57Z</dcterms:created>
  <dcterms:modified xsi:type="dcterms:W3CDTF">2023-10-10T12:54:28Z</dcterms:modified>
</cp:coreProperties>
</file>